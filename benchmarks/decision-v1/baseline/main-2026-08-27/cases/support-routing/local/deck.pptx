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94360"/>
            <a:ext cx="91440" cy="5394960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3276295" cy="6858000"/>
          </a:xfrm>
          <a:prstGeom prst="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15400" y="4297680"/>
            <a:ext cx="3276295" cy="2560320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64040" y="914400"/>
            <a:ext cx="2194560" cy="146304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68096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38360"/>
                </a:solidFill>
                <a:latin typeface="Aptos"/>
              </a:rPr>
              <a:t>STORYBOARD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74066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1D3829"/>
                </a:solidFill>
                <a:latin typeface="Aptos Display"/>
              </a:rPr>
              <a:t>Choose the support routing pilot for complex account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903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577060"/>
                </a:solidFill>
                <a:latin typeface="Aptos"/>
              </a:rPr>
              <a:t>For Support and customer-success managers — Approve one routing rule that preserves clear ownership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12984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D3829"/>
                </a:solidFill>
                <a:latin typeface="Aptos"/>
              </a:rPr>
              <a:t>A concise, editable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2057400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77060"/>
                </a:solidFill>
                <a:latin typeface="Aptos"/>
              </a:rPr>
              <a:t>Prepared for a clear conversation, not a wall of slides.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480060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1F5EE"/>
                </a:solidFill>
                <a:latin typeface="Aptos Display"/>
              </a:rPr>
              <a:t>EDITABLE
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38360"/>
                </a:solidFill>
                <a:latin typeface="Aptos"/>
              </a:rPr>
              <a:t>STORYBOARD /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1D3829"/>
                </a:solidFill>
                <a:latin typeface="Aptos Display"/>
              </a:rPr>
              <a:t>The decision in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77060"/>
                </a:solidFill>
                <a:latin typeface="Aptos"/>
              </a:rPr>
              <a:t>Complex account questions move between teams and the handoff owner is not consistently visible.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438360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77060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D3829"/>
                </a:solidFill>
                <a:latin typeface="Aptos Display"/>
              </a:rPr>
              <a:t>The decision in context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548640" y="2788920"/>
            <a:ext cx="7132320" cy="768096"/>
          </a:xfrm>
          <a:prstGeom prst="round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383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D3829"/>
                </a:solidFill>
                <a:latin typeface="Aptos"/>
              </a:rPr>
              <a:t>Audience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77060"/>
                </a:solidFill>
                <a:latin typeface="Aptos"/>
              </a:rPr>
              <a:t>Support and customer-success managers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548640" y="3703320"/>
            <a:ext cx="7132320" cy="768096"/>
          </a:xfrm>
          <a:prstGeom prst="roundRect">
            <a:avLst/>
          </a:prstGeom>
          <a:solidFill>
            <a:srgbClr val="D0D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383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D3829"/>
                </a:solidFill>
                <a:latin typeface="Aptos"/>
              </a:rPr>
              <a:t>Desired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77060"/>
                </a:solidFill>
                <a:latin typeface="Aptos"/>
              </a:rPr>
              <a:t>Approve one routing rule that preserves clear ownership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548640" y="4617720"/>
            <a:ext cx="7132320" cy="768096"/>
          </a:xfrm>
          <a:prstGeom prst="round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383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D3829"/>
                </a:solidFill>
                <a:latin typeface="Aptos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77060"/>
                </a:solidFill>
                <a:latin typeface="Aptos"/>
              </a:rPr>
              <a:t>Choose the support routing pilot for complex account 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77060"/>
                </a:solidFill>
                <a:latin typeface="Aptos"/>
              </a:rPr>
              <a:t>Choose the support routing pilot for complex account quest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7706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38360"/>
                </a:solidFill>
                <a:latin typeface="Aptos"/>
              </a:rPr>
              <a:t>STORYBOARD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804672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1D3829"/>
                </a:solidFill>
                <a:latin typeface="Aptos Display"/>
              </a:rPr>
              <a:t>The boundaries that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664208"/>
            <a:ext cx="71323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77060"/>
                </a:solidFill>
                <a:latin typeface="Aptos"/>
              </a:rPr>
              <a:t>The decision must work inside these author-defined constraints.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3200400" cy="4187952"/>
          </a:xfrm>
          <a:prstGeom prst="round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938528"/>
            <a:ext cx="2615184" cy="109728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261518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438360"/>
                </a:solidFill>
                <a:latin typeface="Aptos Display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38728"/>
            <a:ext cx="2578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77060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913632"/>
            <a:ext cx="257860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D3829"/>
                </a:solidFill>
                <a:latin typeface="Aptos Display"/>
              </a:rPr>
              <a:t>The boundaries that matter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4160520" y="2788920"/>
            <a:ext cx="7132320" cy="768096"/>
          </a:xfrm>
          <a:prstGeom prst="round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383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D3829"/>
                </a:solidFill>
                <a:latin typeface="Aptos"/>
              </a:rPr>
              <a:t>Constraint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77060"/>
                </a:solidFill>
                <a:latin typeface="Aptos"/>
              </a:rPr>
              <a:t>Current help desk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4160520" y="3703320"/>
            <a:ext cx="7132320" cy="768096"/>
          </a:xfrm>
          <a:prstGeom prst="roundRect">
            <a:avLst/>
          </a:prstGeom>
          <a:solidFill>
            <a:srgbClr val="D0D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383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546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D3829"/>
                </a:solidFill>
                <a:latin typeface="Aptos"/>
              </a:rPr>
              <a:t>Constraint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77060"/>
                </a:solidFill>
                <a:latin typeface="Aptos"/>
              </a:rPr>
              <a:t>No new queue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4160520" y="4617720"/>
            <a:ext cx="7132320" cy="768096"/>
          </a:xfrm>
          <a:prstGeom prst="round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383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D3829"/>
                </a:solidFill>
                <a:latin typeface="Aptos"/>
              </a:rPr>
              <a:t>Constraint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77060"/>
                </a:solidFill>
                <a:latin typeface="Aptos"/>
              </a:rPr>
              <a:t>Four-week pilot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77060"/>
                </a:solidFill>
                <a:latin typeface="Aptos"/>
              </a:rPr>
              <a:t>Choose the support routing pilot for complex account quest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7706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38360"/>
                </a:solidFill>
                <a:latin typeface="Aptos"/>
              </a:rPr>
              <a:t>STORYBOARD 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1D3829"/>
                </a:solidFill>
                <a:latin typeface="Aptos Display"/>
              </a:rPr>
              <a:t>The options on the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763524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77060"/>
                </a:solidFill>
                <a:latin typeface="Aptos"/>
              </a:rPr>
              <a:t>Compare only the options and decision lens supplied in the brief.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627632"/>
            <a:ext cx="2880360" cy="4187952"/>
          </a:xfrm>
          <a:prstGeom prst="round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33688" y="1938528"/>
            <a:ext cx="2295144" cy="109728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33688" y="2286000"/>
            <a:ext cx="22951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438360"/>
                </a:solidFill>
                <a:latin typeface="Aptos Display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1976" y="3538728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77060"/>
                </a:solidFill>
                <a:latin typeface="Aptos"/>
              </a:rPr>
              <a:t>COMPARE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51976" y="4709160"/>
            <a:ext cx="1083564" cy="502920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1976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D3829"/>
                </a:solidFill>
                <a:latin typeface="Aptos"/>
              </a:rPr>
              <a:t>BEFORE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26980" y="4709160"/>
            <a:ext cx="1083564" cy="502920"/>
          </a:xfrm>
          <a:prstGeom prst="rect">
            <a:avLst/>
          </a:prstGeom>
          <a:solidFill>
            <a:srgbClr val="D0D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26980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D3829"/>
                </a:solidFill>
                <a:latin typeface="Aptos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1976" y="3913632"/>
            <a:ext cx="22585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D3829"/>
                </a:solidFill>
                <a:latin typeface="Aptos Display"/>
              </a:rPr>
              <a:t>The options on the table</a:t>
            </a:r>
          </a:p>
        </p:txBody>
      </p:sp>
      <p:sp>
        <p:nvSpPr>
          <p:cNvPr id="15" name="semantic.comparison.side.1"/>
          <p:cNvSpPr/>
          <p:nvPr/>
        </p:nvSpPr>
        <p:spPr>
          <a:xfrm>
            <a:off x="548640" y="2743200"/>
            <a:ext cx="3671316" cy="1143000"/>
          </a:xfrm>
          <a:prstGeom prst="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D3829"/>
                </a:solidFill>
                <a:latin typeface="Aptos"/>
              </a:rPr>
              <a:t>Named specialist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77060"/>
                </a:solidFill>
                <a:latin typeface="Aptos"/>
              </a:rPr>
              <a:t>Route the case to one rotating specialist who owns the complete response.</a:t>
            </a:r>
          </a:p>
        </p:txBody>
      </p:sp>
      <p:sp>
        <p:nvSpPr>
          <p:cNvPr id="18" name="semantic.comparison.side.2"/>
          <p:cNvSpPr/>
          <p:nvPr/>
        </p:nvSpPr>
        <p:spPr>
          <a:xfrm>
            <a:off x="4421124" y="2743200"/>
            <a:ext cx="3671316" cy="1143000"/>
          </a:xfrm>
          <a:prstGeom prst="rect">
            <a:avLst/>
          </a:prstGeom>
          <a:solidFill>
            <a:srgbClr val="D0D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2292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D3829"/>
                </a:solidFill>
                <a:latin typeface="Aptos"/>
              </a:rPr>
              <a:t>Shared triage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2292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77060"/>
                </a:solidFill>
                <a:latin typeface="Aptos"/>
              </a:rPr>
              <a:t>Review complex cases in a daily cross-team triage window.</a:t>
            </a:r>
          </a:p>
        </p:txBody>
      </p:sp>
      <p:sp>
        <p:nvSpPr>
          <p:cNvPr id="21" name="semantic.comparison.criterion.1"/>
          <p:cNvSpPr/>
          <p:nvPr/>
        </p:nvSpPr>
        <p:spPr>
          <a:xfrm>
            <a:off x="548640" y="4096512"/>
            <a:ext cx="1417320" cy="438912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18795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D3829"/>
                </a:solidFill>
                <a:latin typeface="Aptos"/>
              </a:rPr>
              <a:t>Fast ownership versus specialist capacity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169664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77060"/>
                </a:solidFill>
                <a:latin typeface="Aptos"/>
              </a:rPr>
              <a:t>Route the case to one rotating specialist who owns the complete response.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169664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77060"/>
                </a:solidFill>
                <a:latin typeface="Aptos"/>
              </a:rPr>
              <a:t>Review complex cases in a daily cross-team triage window.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77060"/>
                </a:solidFill>
                <a:latin typeface="Aptos"/>
              </a:rPr>
              <a:t>Choose the support routing pilot for complex account quest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7706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38360"/>
                </a:solidFill>
                <a:latin typeface="Aptos"/>
              </a:rPr>
              <a:t>STORYBOARD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1D3829"/>
                </a:solidFill>
                <a:latin typeface="Aptos Display"/>
              </a:rPr>
              <a:t>The trade-off to accept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77060"/>
                </a:solidFill>
                <a:latin typeface="Aptos"/>
              </a:rPr>
              <a:t>Choose the support routing pilot for complex account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438360"/>
                </a:solidFill>
                <a:latin typeface="Aptos Display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77060"/>
                </a:solidFill>
                <a:latin typeface="Aptos"/>
              </a:rPr>
              <a:t>DECISION</a:t>
            </a:r>
          </a:p>
        </p:txBody>
      </p:sp>
      <p:sp>
        <p:nvSpPr>
          <p:cNvPr id="10" name="Chevron 9"/>
          <p:cNvSpPr/>
          <p:nvPr/>
        </p:nvSpPr>
        <p:spPr>
          <a:xfrm>
            <a:off x="8695944" y="4700016"/>
            <a:ext cx="2679192" cy="475488"/>
          </a:xfrm>
          <a:prstGeom prst="chevron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D3829"/>
                </a:solidFill>
                <a:latin typeface="Aptos Display"/>
              </a:rPr>
              <a:t>The trade-off to accept</a:t>
            </a:r>
          </a:p>
        </p:txBody>
      </p:sp>
      <p:sp>
        <p:nvSpPr>
          <p:cNvPr id="12" name="semantic.decision.statement"/>
          <p:cNvSpPr/>
          <p:nvPr/>
        </p:nvSpPr>
        <p:spPr>
          <a:xfrm>
            <a:off x="548640" y="2743200"/>
            <a:ext cx="7132320" cy="731520"/>
          </a:xfrm>
          <a:prstGeom prst="chevron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926080"/>
            <a:ext cx="6492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1F5EE"/>
                </a:solidFill>
                <a:latin typeface="Aptos"/>
              </a:rPr>
              <a:t>Choose the support routing pilot for complex account questions</a:t>
            </a:r>
          </a:p>
        </p:txBody>
      </p:sp>
      <p:sp>
        <p:nvSpPr>
          <p:cNvPr id="14" name="semantic.decision.option.1"/>
          <p:cNvSpPr/>
          <p:nvPr/>
        </p:nvSpPr>
        <p:spPr>
          <a:xfrm>
            <a:off x="548640" y="3730752"/>
            <a:ext cx="3456432" cy="1024128"/>
          </a:xfrm>
          <a:prstGeom prst="round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877056"/>
            <a:ext cx="3163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3829"/>
                </a:solidFill>
                <a:latin typeface="Aptos"/>
              </a:rPr>
              <a:t>Named specialist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4187952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77060"/>
                </a:solidFill>
                <a:latin typeface="Aptos"/>
              </a:rPr>
              <a:t>Route the case to one rotating specialist who owns the complete response.</a:t>
            </a:r>
          </a:p>
        </p:txBody>
      </p:sp>
      <p:sp>
        <p:nvSpPr>
          <p:cNvPr id="17" name="semantic.decision.option.2"/>
          <p:cNvSpPr/>
          <p:nvPr/>
        </p:nvSpPr>
        <p:spPr>
          <a:xfrm>
            <a:off x="4224528" y="3730752"/>
            <a:ext cx="3456432" cy="1024128"/>
          </a:xfrm>
          <a:prstGeom prst="roundRect">
            <a:avLst/>
          </a:prstGeom>
          <a:solidFill>
            <a:srgbClr val="D0D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2" y="3877056"/>
            <a:ext cx="3163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3829"/>
                </a:solidFill>
                <a:latin typeface="Aptos"/>
              </a:rPr>
              <a:t>Shared triage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4187952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77060"/>
                </a:solidFill>
                <a:latin typeface="Aptos"/>
              </a:rPr>
              <a:t>Review complex cases in a daily cross-team triage window.</a:t>
            </a:r>
          </a:p>
        </p:txBody>
      </p:sp>
      <p:sp>
        <p:nvSpPr>
          <p:cNvPr id="20" name="semantic.decision.rationale"/>
          <p:cNvSpPr/>
          <p:nvPr/>
        </p:nvSpPr>
        <p:spPr>
          <a:xfrm>
            <a:off x="548640" y="5010912"/>
            <a:ext cx="7132320" cy="694944"/>
          </a:xfrm>
          <a:prstGeom prst="rect">
            <a:avLst/>
          </a:prstGeom>
          <a:solidFill>
            <a:srgbClr val="D0D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184648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D3829"/>
                </a:solidFill>
                <a:latin typeface="Aptos"/>
              </a:rPr>
              <a:t>RATIONALE  Fast ownership versus specialist capacity; Shared learning versus response delay  ·  OWNER  Support operations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77060"/>
                </a:solidFill>
                <a:latin typeface="Aptos"/>
              </a:rPr>
              <a:t>Choose the support routing pilot for complex account 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7706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38360"/>
                </a:solidFill>
                <a:latin typeface="Aptos"/>
              </a:rPr>
              <a:t>STORYBOARD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804672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1D3829"/>
                </a:solidFill>
                <a:latin typeface="Aptos Display"/>
              </a:rPr>
              <a:t>The owned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664208"/>
            <a:ext cx="71323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77060"/>
                </a:solidFill>
                <a:latin typeface="Aptos"/>
              </a:rPr>
              <a:t>Pilot named specialist routing for one account segment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3200400" cy="4187952"/>
          </a:xfrm>
          <a:prstGeom prst="round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938528"/>
            <a:ext cx="2615184" cy="109728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261518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438360"/>
                </a:solidFill>
                <a:latin typeface="Aptos Display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38728"/>
            <a:ext cx="2578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77060"/>
                </a:solidFill>
                <a:latin typeface="Aptos"/>
              </a:rPr>
              <a:t>SEQUENCE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4709160"/>
            <a:ext cx="256032" cy="256032"/>
          </a:xfrm>
          <a:prstGeom prst="ellipse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55648" y="4709160"/>
            <a:ext cx="256032" cy="256032"/>
          </a:xfrm>
          <a:prstGeom prst="ellipse">
            <a:avLst/>
          </a:prstGeom>
          <a:solidFill>
            <a:srgbClr val="D0D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05456" y="4709160"/>
            <a:ext cx="256032" cy="256032"/>
          </a:xfrm>
          <a:prstGeom prst="ellipse">
            <a:avLst/>
          </a:prstGeom>
          <a:solidFill>
            <a:srgbClr val="D0D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913632"/>
            <a:ext cx="257860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D3829"/>
                </a:solidFill>
                <a:latin typeface="Aptos Display"/>
              </a:rPr>
              <a:t>The owned next step</a:t>
            </a:r>
          </a:p>
        </p:txBody>
      </p:sp>
      <p:sp>
        <p:nvSpPr>
          <p:cNvPr id="14" name="semantic.timeline.connector"/>
          <p:cNvSpPr/>
          <p:nvPr/>
        </p:nvSpPr>
        <p:spPr>
          <a:xfrm>
            <a:off x="4480560" y="3218688"/>
            <a:ext cx="6492240" cy="73152"/>
          </a:xfrm>
          <a:prstGeom prst="rect">
            <a:avLst/>
          </a:prstGeom>
          <a:solidFill>
            <a:srgbClr val="B9D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mantic.timeline.step.1"/>
          <p:cNvSpPr/>
          <p:nvPr/>
        </p:nvSpPr>
        <p:spPr>
          <a:xfrm>
            <a:off x="5760720" y="3054096"/>
            <a:ext cx="365760" cy="365760"/>
          </a:xfrm>
          <a:prstGeom prst="ellipse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33672" y="2743200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438360"/>
                </a:solidFill>
                <a:latin typeface="Aptos"/>
              </a:rPr>
              <a:t>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3672" y="3675887"/>
            <a:ext cx="341985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D3829"/>
                </a:solidFill>
                <a:latin typeface="Aptos"/>
              </a:rPr>
              <a:t>Pilot named specialist routing for one account segment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3672" y="4553712"/>
            <a:ext cx="34198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577060"/>
                </a:solidFill>
                <a:latin typeface="Aptos"/>
              </a:rPr>
              <a:t>Support operations lead</a:t>
            </a:r>
          </a:p>
        </p:txBody>
      </p:sp>
      <p:sp>
        <p:nvSpPr>
          <p:cNvPr id="19" name="semantic.timeline.step.2"/>
          <p:cNvSpPr/>
          <p:nvPr/>
        </p:nvSpPr>
        <p:spPr>
          <a:xfrm>
            <a:off x="9326880" y="3054096"/>
            <a:ext cx="365760" cy="365760"/>
          </a:xfrm>
          <a:prstGeom prst="ellipse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9832" y="2743200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438360"/>
                </a:solidFill>
                <a:latin typeface="Aptos"/>
              </a:rPr>
              <a:t>2026-10-08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2" y="3675887"/>
            <a:ext cx="341985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D3829"/>
                </a:solidFill>
                <a:latin typeface="Aptos"/>
              </a:rPr>
              <a:t>Review the author-supplied evidence and decide whether to continue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9832" y="4553712"/>
            <a:ext cx="34198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577060"/>
                </a:solidFill>
                <a:latin typeface="Aptos"/>
              </a:rPr>
              <a:t>Support operations lead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77060"/>
                </a:solidFill>
                <a:latin typeface="Aptos"/>
              </a:rPr>
              <a:t>Choose the support routing pilot for complex account quest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7706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Choose the support routing pilot for complex account questions</dc:title>
  <dc:subject>For Support and customer-success managers — Approve one routing rule that preserves clear ownership</dc:subject>
  <dc:creator>Storyboard Studio</dc:creator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