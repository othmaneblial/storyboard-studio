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"/>
            <a:ext cx="91440" cy="539496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6295" cy="6858000"/>
          </a:xfrm>
          <a:prstGeom prst="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15400" y="4297680"/>
            <a:ext cx="3276295" cy="25603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64040" y="914400"/>
            <a:ext cx="2194560" cy="146304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68096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STORYBOARD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74066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7F4EE"/>
                </a:solidFill>
                <a:latin typeface="Aptos Display"/>
              </a:rPr>
              <a:t>Choose The Office Lease Path For The Next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903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B8C0D6"/>
                </a:solidFill>
                <a:latin typeface="Aptos"/>
              </a:rPr>
              <a:t>Audience: Founders, finance, and people operations | Outcome: Approve a reversible workspace commitment within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2984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A concise, editable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057400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B8C0D6"/>
                </a:solidFill>
                <a:latin typeface="Aptos"/>
              </a:rPr>
              <a:t>Prepared for a clear conversation, not a wall of slides.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480060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01425"/>
                </a:solidFill>
                <a:latin typeface="Aptos Display"/>
              </a:rPr>
              <a:t>EDITABLE
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decision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decision context decision clear for Choose the office lease path for the next team year.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decision context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548640" y="27889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Audience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Name who benefits and what changes for them.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548640" y="3703320"/>
            <a:ext cx="7132320" cy="768096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Concrete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Describe the result people should be able to see.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548640" y="46177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Useful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Keep the first version focused and testable.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Office Lease Path For The Next Team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constraints decision clear for Choose the office lease path for the next team year.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constraints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548640" y="27889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Current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Capture the conditions shaping the decision today.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548640" y="3703320"/>
            <a:ext cx="7132320" cy="768096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Key constraint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Make the non-negotiable trade-off explicit.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548640" y="46177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Decision lens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Use a shared criterion to prioritize the next move.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Office Lease Path For The Next Team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763524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options decision clear for Choose the office lease path for the next team year.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627632"/>
            <a:ext cx="28803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33688" y="1938528"/>
            <a:ext cx="22951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33688" y="2286000"/>
            <a:ext cx="22951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1976" y="3538728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COMPARE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51976" y="4709160"/>
            <a:ext cx="1083564" cy="5029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1976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BEFORE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26980" y="4709160"/>
            <a:ext cx="1083564" cy="502920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26980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1976" y="3913632"/>
            <a:ext cx="22585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options</a:t>
            </a:r>
          </a:p>
        </p:txBody>
      </p:sp>
      <p:sp>
        <p:nvSpPr>
          <p:cNvPr id="15" name="semantic.comparison.side.1"/>
          <p:cNvSpPr/>
          <p:nvPr/>
        </p:nvSpPr>
        <p:spPr>
          <a:xfrm>
            <a:off x="548640" y="2743200"/>
            <a:ext cx="3671316" cy="1143000"/>
          </a:xfrm>
          <a:prstGeom prst="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Start small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0D6"/>
                </a:solidFill>
                <a:latin typeface="Aptos"/>
              </a:rPr>
              <a:t>Choose one meaningful workflow to prove the value.</a:t>
            </a:r>
          </a:p>
        </p:txBody>
      </p:sp>
      <p:sp>
        <p:nvSpPr>
          <p:cNvPr id="18" name="semantic.comparison.side.2"/>
          <p:cNvSpPr/>
          <p:nvPr/>
        </p:nvSpPr>
        <p:spPr>
          <a:xfrm>
            <a:off x="4421124" y="2743200"/>
            <a:ext cx="3671316" cy="1143000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2292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Make it visible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2292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0D6"/>
                </a:solidFill>
                <a:latin typeface="Aptos"/>
              </a:rPr>
              <a:t>Give the team a simple way to inspect progress.</a:t>
            </a:r>
          </a:p>
        </p:txBody>
      </p:sp>
      <p:sp>
        <p:nvSpPr>
          <p:cNvPr id="21" name="semantic.comparison.criterion.1"/>
          <p:cNvSpPr/>
          <p:nvPr/>
        </p:nvSpPr>
        <p:spPr>
          <a:xfrm>
            <a:off x="548640" y="4096512"/>
            <a:ext cx="1417320" cy="438912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18795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7F4EE"/>
                </a:solidFill>
                <a:latin typeface="Aptos"/>
              </a:rPr>
              <a:t>Learn quickly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169664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0D6"/>
                </a:solidFill>
                <a:latin typeface="Aptos"/>
              </a:rPr>
              <a:t>Choose one meaningful workflow to prove the value.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169664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0D6"/>
                </a:solidFill>
                <a:latin typeface="Aptos"/>
              </a:rPr>
              <a:t>Give the team a simple way to inspect progress.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Office Lease Path For The Next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trade-off decision clear for Choose the office lease path for the next team year.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DECISION</a:t>
            </a:r>
          </a:p>
        </p:txBody>
      </p:sp>
      <p:sp>
        <p:nvSpPr>
          <p:cNvPr id="10" name="Chevron 9"/>
          <p:cNvSpPr/>
          <p:nvPr/>
        </p:nvSpPr>
        <p:spPr>
          <a:xfrm>
            <a:off x="8695944" y="4700016"/>
            <a:ext cx="2679192" cy="475488"/>
          </a:xfrm>
          <a:prstGeom prst="chevron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trade-off</a:t>
            </a:r>
          </a:p>
        </p:txBody>
      </p:sp>
      <p:sp>
        <p:nvSpPr>
          <p:cNvPr id="12" name="semantic.decision.statement"/>
          <p:cNvSpPr/>
          <p:nvPr/>
        </p:nvSpPr>
        <p:spPr>
          <a:xfrm>
            <a:off x="548640" y="2743200"/>
            <a:ext cx="7132320" cy="731520"/>
          </a:xfrm>
          <a:prstGeom prst="chevron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926080"/>
            <a:ext cx="6492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425"/>
                </a:solidFill>
                <a:latin typeface="Aptos"/>
              </a:rPr>
              <a:t>Use this slide to make the trade-off decision clear for Choose the office lease path for the next team year.</a:t>
            </a:r>
          </a:p>
        </p:txBody>
      </p:sp>
      <p:sp>
        <p:nvSpPr>
          <p:cNvPr id="14" name="semantic.decision.option.1"/>
          <p:cNvSpPr/>
          <p:nvPr/>
        </p:nvSpPr>
        <p:spPr>
          <a:xfrm>
            <a:off x="548640" y="3730752"/>
            <a:ext cx="2231136" cy="102412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877056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Protect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187952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Set clear expectations around quality and ownership.</a:t>
            </a:r>
          </a:p>
        </p:txBody>
      </p:sp>
      <p:sp>
        <p:nvSpPr>
          <p:cNvPr id="17" name="semantic.decision.option.2"/>
          <p:cNvSpPr/>
          <p:nvPr/>
        </p:nvSpPr>
        <p:spPr>
          <a:xfrm>
            <a:off x="2999232" y="3730752"/>
            <a:ext cx="2231136" cy="1024128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45536" y="3877056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Design for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45536" y="4187952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Remove steps that do not help the intended audience.</a:t>
            </a:r>
          </a:p>
        </p:txBody>
      </p:sp>
      <p:sp>
        <p:nvSpPr>
          <p:cNvPr id="20" name="semantic.decision.option.3"/>
          <p:cNvSpPr/>
          <p:nvPr/>
        </p:nvSpPr>
        <p:spPr>
          <a:xfrm>
            <a:off x="5449824" y="3730752"/>
            <a:ext cx="2231136" cy="102412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96128" y="3877056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Keep it adaptable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6128" y="4187952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Leave room for evidence to change the plan.</a:t>
            </a:r>
          </a:p>
        </p:txBody>
      </p:sp>
      <p:sp>
        <p:nvSpPr>
          <p:cNvPr id="23" name="semantic.decision.rationale"/>
          <p:cNvSpPr/>
          <p:nvPr/>
        </p:nvSpPr>
        <p:spPr>
          <a:xfrm>
            <a:off x="548640" y="5010912"/>
            <a:ext cx="7132320" cy="694944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84648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F4EE"/>
                </a:solidFill>
                <a:latin typeface="Aptos"/>
              </a:rPr>
              <a:t>RATIONALE  Leave room for evidence to change the plan.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Office Lease Path For The Next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owned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owned next step decision clear for Choose the office lease path for the next team year.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SEQUENCE</a:t>
            </a:r>
          </a:p>
        </p:txBody>
      </p:sp>
      <p:sp>
        <p:nvSpPr>
          <p:cNvPr id="10" name="Oval 9"/>
          <p:cNvSpPr/>
          <p:nvPr/>
        </p:nvSpPr>
        <p:spPr>
          <a:xfrm>
            <a:off x="8823960" y="4709160"/>
            <a:ext cx="256032" cy="256032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73768" y="4709160"/>
            <a:ext cx="256032" cy="256032"/>
          </a:xfrm>
          <a:prstGeom prst="ellipse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23576" y="4709160"/>
            <a:ext cx="256032" cy="256032"/>
          </a:xfrm>
          <a:prstGeom prst="ellipse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owned next step</a:t>
            </a:r>
          </a:p>
        </p:txBody>
      </p:sp>
      <p:sp>
        <p:nvSpPr>
          <p:cNvPr id="14" name="semantic.timeline.connector"/>
          <p:cNvSpPr/>
          <p:nvPr/>
        </p:nvSpPr>
        <p:spPr>
          <a:xfrm>
            <a:off x="868680" y="3218688"/>
            <a:ext cx="6492240" cy="73152"/>
          </a:xfrm>
          <a:prstGeom prst="rect">
            <a:avLst/>
          </a:prstGeom>
          <a:solidFill>
            <a:srgbClr val="745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mantic.timeline.step.1"/>
          <p:cNvSpPr/>
          <p:nvPr/>
        </p:nvSpPr>
        <p:spPr>
          <a:xfrm>
            <a:off x="155448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743200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675887"/>
            <a:ext cx="22311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One accountable owner: Assign responsibility for the immediate decision.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553712"/>
            <a:ext cx="2231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/>
            </a:r>
          </a:p>
        </p:txBody>
      </p:sp>
      <p:sp>
        <p:nvSpPr>
          <p:cNvPr id="19" name="semantic.timeline.step.2"/>
          <p:cNvSpPr/>
          <p:nvPr/>
        </p:nvSpPr>
        <p:spPr>
          <a:xfrm>
            <a:off x="393192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9232" y="2743200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9232" y="3675887"/>
            <a:ext cx="22311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A visible milestone: Define what completion looks like in plain language.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9232" y="4553712"/>
            <a:ext cx="2231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/>
            </a:r>
          </a:p>
        </p:txBody>
      </p:sp>
      <p:sp>
        <p:nvSpPr>
          <p:cNvPr id="23" name="semantic.timeline.step.3"/>
          <p:cNvSpPr/>
          <p:nvPr/>
        </p:nvSpPr>
        <p:spPr>
          <a:xfrm>
            <a:off x="630936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76672" y="2743200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6672" y="3675887"/>
            <a:ext cx="22311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A review rhythm: Decide when the result will be assessed together.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76672" y="4553712"/>
            <a:ext cx="2231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Office Lease Path For The Next Team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Choose The Office Lease Path For The Next Team</dc:title>
  <dc:subject>Audience: Founders, finance, and people operations | Outcome: Approve a reversible workspace commitment within</dc:subject>
  <dc:creator>Storyboard Studio</dc:creator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