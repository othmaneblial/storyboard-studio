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lease comparison — Fictional comparison values are excluded; only the reviewed decision boundary is cited. — owner Finance lead — https://example.org/benchmark/lease-comparison — checked 2026-08-27 — license CC0-1.0 — status author-checked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lease comparison — Fictional comparison values are excluded; only the reviewed decision boundary is cited. — owner Finance lead — https://example.org/benchmark/lease-comparison — checked 2026-08-27 — license CC0-1.0 — status author-checked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E526D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4D2736"/>
                </a:solidFill>
                <a:latin typeface="Aptos Display"/>
              </a:rPr>
              <a:t>Choose the office lease path for the next team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846274"/>
                </a:solidFill>
                <a:latin typeface="Aptos"/>
              </a:rPr>
              <a:t>For Founders, finance, and people operations — Approve a reversible workspace commitment within the budget bou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D2736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46274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CF4F4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526D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4D2736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46274"/>
                </a:solidFill>
                <a:latin typeface="Aptos"/>
              </a:rPr>
              <a:t>The current lease ends this quarter and the team uses a hybrid schedule with uncertain headcount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BE526D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46274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4D2736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526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2736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46274"/>
                </a:solidFill>
                <a:latin typeface="Aptos"/>
              </a:rPr>
              <a:t>Founders, finance, and people operations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526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2736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46274"/>
                </a:solidFill>
                <a:latin typeface="Aptos"/>
              </a:rPr>
              <a:t>Approve a reversible workspace commitment within the budget boundary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526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2736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4627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526D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4D2736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46274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BE526D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46274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4D2736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526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2736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46274"/>
                </a:solidFill>
                <a:latin typeface="Aptos"/>
              </a:rPr>
              <a:t>Twelve-month maximum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526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2736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46274"/>
                </a:solidFill>
                <a:latin typeface="Aptos"/>
              </a:rPr>
              <a:t>Accessible transit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E526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D2736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46274"/>
                </a:solidFill>
                <a:latin typeface="Aptos"/>
              </a:rPr>
              <a:t>No build-out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4627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526D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4D2736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46274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BE526D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46274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D2736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4D2736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4D2736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D2736"/>
                </a:solidFill>
                <a:latin typeface="Aptos"/>
              </a:rPr>
              <a:t>Flexible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6274"/>
                </a:solidFill>
                <a:latin typeface="Aptos"/>
              </a:rPr>
              <a:t>Use a serviced office with shorter commitment and limited customization.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D2736"/>
                </a:solidFill>
                <a:latin typeface="Aptos"/>
              </a:rPr>
              <a:t>Direct 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46274"/>
                </a:solidFill>
                <a:latin typeface="Aptos"/>
              </a:rPr>
              <a:t>Take a conventional lease with lower unit cost and greater commitment.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D2736"/>
                </a:solidFill>
                <a:latin typeface="Aptos"/>
              </a:rPr>
              <a:t>Flexibility versus unit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6274"/>
                </a:solidFill>
                <a:latin typeface="Aptos"/>
              </a:rPr>
              <a:t>Use a serviced office with shorter commitment and limited customization.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46274"/>
                </a:solidFill>
                <a:latin typeface="Aptos"/>
              </a:rPr>
              <a:t>Take a conventional lease with lower unit cost and greater commitment.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4627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526D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4D2736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BE526D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46274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4D2736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CF4F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2736"/>
                </a:solidFill>
                <a:latin typeface="Aptos"/>
              </a:rPr>
              <a:t>Flexible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Use a serviced office with shorter commitment and limited customization.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D2736"/>
                </a:solidFill>
                <a:latin typeface="Aptos"/>
              </a:rPr>
              <a:t>Direct 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Take a conventional lease with lower unit cost and greater commitment.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D2736"/>
                </a:solidFill>
                <a:latin typeface="Aptos"/>
              </a:rPr>
              <a:t>RATIONALE  Flexibility versus unit cost; Speed versus workspace control  ·  OWNER  People operations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4627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E526D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4D2736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46274"/>
                </a:solidFill>
                <a:latin typeface="Aptos"/>
              </a:rPr>
              <a:t>Request final terms for the flexible workspace 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F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BE526D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46274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F0D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4D2736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E5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E526D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D2736"/>
                </a:solidFill>
                <a:latin typeface="Aptos"/>
              </a:rPr>
              <a:t>Request final terms for the flexible workspace 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46274"/>
                </a:solidFill>
                <a:latin typeface="Aptos"/>
              </a:rPr>
              <a:t>People operations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BE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E526D"/>
                </a:solidFill>
                <a:latin typeface="Aptos"/>
              </a:rPr>
              <a:t>2026-09-20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D2736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46274"/>
                </a:solidFill>
                <a:latin typeface="Aptos"/>
              </a:rPr>
              <a:t>People operations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46274"/>
                </a:solidFill>
                <a:latin typeface="Aptos"/>
              </a:rPr>
              <a:t>Choose the office lease path for the next team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4627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office lease path for the next team year</dc:title>
  <dc:subject>For Founders, finance, and people operations — Approve a reversible workspace commitment within the budget bou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