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94360"/>
            <a:ext cx="91440" cy="5394960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15400" y="0"/>
            <a:ext cx="3276295" cy="6858000"/>
          </a:xfrm>
          <a:prstGeom prst="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915400" y="4297680"/>
            <a:ext cx="3276295" cy="2560320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464040" y="914400"/>
            <a:ext cx="2194560" cy="146304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768096"/>
            <a:ext cx="5212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5B560"/>
                </a:solidFill>
                <a:latin typeface="Aptos"/>
              </a:rPr>
              <a:t>STORYBOARD 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353312"/>
            <a:ext cx="740664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F7F4EE"/>
                </a:solidFill>
                <a:latin typeface="Aptos Display"/>
              </a:rPr>
              <a:t>Choose The Onboarding Pilot For The Next Release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13632"/>
            <a:ext cx="69037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>
                <a:solidFill>
                  <a:srgbClr val="B8C0D6"/>
                </a:solidFill>
                <a:latin typeface="Aptos"/>
              </a:rPr>
              <a:t>Audience: Product and customer-success leaders | Outcome: Approve one measurable first-30-day onboarding exper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64040" y="1298448"/>
            <a:ext cx="2057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7F4EE"/>
                </a:solidFill>
                <a:latin typeface="Aptos"/>
              </a:rPr>
              <a:t>A concise, editable deck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64040" y="2057400"/>
            <a:ext cx="20574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B8C0D6"/>
                </a:solidFill>
                <a:latin typeface="Aptos"/>
              </a:rPr>
              <a:t>Prepared for a clear conversation, not a wall of slides.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64040" y="4800600"/>
            <a:ext cx="20116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01425"/>
                </a:solidFill>
                <a:latin typeface="Aptos Display"/>
              </a:rPr>
              <a:t>EDITABLE
POWERPOINT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5B560"/>
                </a:solidFill>
                <a:latin typeface="Aptos"/>
              </a:rPr>
              <a:t>STORYBOARD /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7040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>
                <a:solidFill>
                  <a:srgbClr val="F7F4EE"/>
                </a:solidFill>
                <a:latin typeface="Aptos Display"/>
              </a:rPr>
              <a:t>decision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64208"/>
            <a:ext cx="640080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B8C0D6"/>
                </a:solidFill>
                <a:latin typeface="Aptos"/>
              </a:rPr>
              <a:t>Use this slide to make the decision context decision clear for Choose the onboarding pilot for the next release.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66760" y="1627632"/>
            <a:ext cx="3337560" cy="4187952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59368" y="1938528"/>
            <a:ext cx="2752344" cy="109728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59368" y="2286000"/>
            <a:ext cx="275234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E5B560"/>
                </a:solidFill>
                <a:latin typeface="Aptos Display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77656" y="3538728"/>
            <a:ext cx="2715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B8C0D6"/>
                </a:solidFill>
                <a:latin typeface="Aptos"/>
              </a:rPr>
              <a:t>KEY FRAME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77656" y="3913632"/>
            <a:ext cx="271576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7F4EE"/>
                </a:solidFill>
                <a:latin typeface="Aptos Display"/>
              </a:rPr>
              <a:t>decision context</a:t>
            </a:r>
          </a:p>
        </p:txBody>
      </p:sp>
      <p:sp>
        <p:nvSpPr>
          <p:cNvPr id="11" name="semantic.standard.point.1"/>
          <p:cNvSpPr/>
          <p:nvPr/>
        </p:nvSpPr>
        <p:spPr>
          <a:xfrm>
            <a:off x="548640" y="2788920"/>
            <a:ext cx="7132320" cy="768096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9535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5B560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43584" y="28986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7F4EE"/>
                </a:solidFill>
                <a:latin typeface="Aptos"/>
              </a:rPr>
              <a:t>Audience first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28986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8C0D6"/>
                </a:solidFill>
                <a:latin typeface="Aptos"/>
              </a:rPr>
              <a:t>Name who benefits and what changes for them.</a:t>
            </a:r>
          </a:p>
        </p:txBody>
      </p:sp>
      <p:sp>
        <p:nvSpPr>
          <p:cNvPr id="15" name="semantic.standard.point.2"/>
          <p:cNvSpPr/>
          <p:nvPr/>
        </p:nvSpPr>
        <p:spPr>
          <a:xfrm>
            <a:off x="548640" y="3703320"/>
            <a:ext cx="7132320" cy="768096"/>
          </a:xfrm>
          <a:prstGeom prst="roundRect">
            <a:avLst/>
          </a:prstGeom>
          <a:solidFill>
            <a:srgbClr val="26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38679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5B560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43584" y="38130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7F4EE"/>
                </a:solidFill>
                <a:latin typeface="Aptos"/>
              </a:rPr>
              <a:t>Concrete outcome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38130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8C0D6"/>
                </a:solidFill>
                <a:latin typeface="Aptos"/>
              </a:rPr>
              <a:t>Describe the result people should be able to see.</a:t>
            </a:r>
          </a:p>
        </p:txBody>
      </p:sp>
      <p:sp>
        <p:nvSpPr>
          <p:cNvPr id="19" name="semantic.standard.point.3"/>
          <p:cNvSpPr/>
          <p:nvPr/>
        </p:nvSpPr>
        <p:spPr>
          <a:xfrm>
            <a:off x="548640" y="4617720"/>
            <a:ext cx="7132320" cy="768096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47823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5B560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43584" y="47274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7F4EE"/>
                </a:solidFill>
                <a:latin typeface="Aptos"/>
              </a:rPr>
              <a:t>Useful boundary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37560" y="47274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8C0D6"/>
                </a:solidFill>
                <a:latin typeface="Aptos"/>
              </a:rPr>
              <a:t>Keep the first version focused and testable.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8C0D6"/>
                </a:solidFill>
                <a:latin typeface="Aptos"/>
              </a:rPr>
              <a:t>Choose The Onboarding Pilot For The Next Release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4415" y="642823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B8C0D6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5B560"/>
                </a:solidFill>
                <a:latin typeface="Aptos"/>
              </a:rPr>
              <a:t>STORYBOARD /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7040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>
                <a:solidFill>
                  <a:srgbClr val="F7F4EE"/>
                </a:solidFill>
                <a:latin typeface="Aptos Display"/>
              </a:rPr>
              <a:t>constraints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64208"/>
            <a:ext cx="640080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B8C0D6"/>
                </a:solidFill>
                <a:latin typeface="Aptos"/>
              </a:rPr>
              <a:t>Use this slide to make the constraints decision clear for Choose the onboarding pilot for the next release.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66760" y="1627632"/>
            <a:ext cx="3337560" cy="4187952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59368" y="1938528"/>
            <a:ext cx="2752344" cy="109728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59368" y="2286000"/>
            <a:ext cx="275234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E5B560"/>
                </a:solidFill>
                <a:latin typeface="Aptos Display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77656" y="3538728"/>
            <a:ext cx="2715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B8C0D6"/>
                </a:solidFill>
                <a:latin typeface="Aptos"/>
              </a:rPr>
              <a:t>KEY FRAME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77656" y="3913632"/>
            <a:ext cx="271576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7F4EE"/>
                </a:solidFill>
                <a:latin typeface="Aptos Display"/>
              </a:rPr>
              <a:t>constraints</a:t>
            </a:r>
          </a:p>
        </p:txBody>
      </p:sp>
      <p:sp>
        <p:nvSpPr>
          <p:cNvPr id="11" name="semantic.standard.point.1"/>
          <p:cNvSpPr/>
          <p:nvPr/>
        </p:nvSpPr>
        <p:spPr>
          <a:xfrm>
            <a:off x="548640" y="2788920"/>
            <a:ext cx="7132320" cy="768096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9535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5B560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43584" y="28986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7F4EE"/>
                </a:solidFill>
                <a:latin typeface="Aptos"/>
              </a:rPr>
              <a:t>Current context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28986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8C0D6"/>
                </a:solidFill>
                <a:latin typeface="Aptos"/>
              </a:rPr>
              <a:t>Capture the conditions shaping the decision today.</a:t>
            </a:r>
          </a:p>
        </p:txBody>
      </p:sp>
      <p:sp>
        <p:nvSpPr>
          <p:cNvPr id="15" name="semantic.standard.point.2"/>
          <p:cNvSpPr/>
          <p:nvPr/>
        </p:nvSpPr>
        <p:spPr>
          <a:xfrm>
            <a:off x="548640" y="3703320"/>
            <a:ext cx="7132320" cy="768096"/>
          </a:xfrm>
          <a:prstGeom prst="roundRect">
            <a:avLst/>
          </a:prstGeom>
          <a:solidFill>
            <a:srgbClr val="26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38679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5B560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43584" y="38130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7F4EE"/>
                </a:solidFill>
                <a:latin typeface="Aptos"/>
              </a:rPr>
              <a:t>Key constraint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38130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8C0D6"/>
                </a:solidFill>
                <a:latin typeface="Aptos"/>
              </a:rPr>
              <a:t>Make the non-negotiable trade-off explicit.</a:t>
            </a:r>
          </a:p>
        </p:txBody>
      </p:sp>
      <p:sp>
        <p:nvSpPr>
          <p:cNvPr id="19" name="semantic.standard.point.3"/>
          <p:cNvSpPr/>
          <p:nvPr/>
        </p:nvSpPr>
        <p:spPr>
          <a:xfrm>
            <a:off x="548640" y="4617720"/>
            <a:ext cx="7132320" cy="768096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47823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5B560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43584" y="47274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7F4EE"/>
                </a:solidFill>
                <a:latin typeface="Aptos"/>
              </a:rPr>
              <a:t>Decision lens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37560" y="47274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8C0D6"/>
                </a:solidFill>
                <a:latin typeface="Aptos"/>
              </a:rPr>
              <a:t>Use a shared criterion to prioritize the next move.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8C0D6"/>
                </a:solidFill>
                <a:latin typeface="Aptos"/>
              </a:rPr>
              <a:t>Choose The Onboarding Pilot For The Next Release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4415" y="642823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B8C0D6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5B560"/>
                </a:solidFill>
                <a:latin typeface="Aptos"/>
              </a:rPr>
              <a:t>STORYBOARD /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>
                <a:solidFill>
                  <a:srgbClr val="F7F4EE"/>
                </a:solidFill>
                <a:latin typeface="Aptos Display"/>
              </a:rPr>
              <a:t>options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64208"/>
            <a:ext cx="763524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B8C0D6"/>
                </a:solidFill>
                <a:latin typeface="Aptos"/>
              </a:rPr>
              <a:t>Use this slide to make the options decision clear for Choose the onboarding pilot for the next release.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41080" y="1627632"/>
            <a:ext cx="2880360" cy="4187952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933688" y="1938528"/>
            <a:ext cx="2295144" cy="109728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33688" y="2286000"/>
            <a:ext cx="229514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E5B560"/>
                </a:solidFill>
                <a:latin typeface="Aptos Display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51976" y="3538728"/>
            <a:ext cx="22585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B8C0D6"/>
                </a:solidFill>
                <a:latin typeface="Aptos"/>
              </a:rPr>
              <a:t>COMPARE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51976" y="4709160"/>
            <a:ext cx="1083564" cy="502920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51976" y="4818888"/>
            <a:ext cx="10835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7F4EE"/>
                </a:solidFill>
                <a:latin typeface="Aptos"/>
              </a:rPr>
              <a:t>BEFORE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126980" y="4709160"/>
            <a:ext cx="1083564" cy="502920"/>
          </a:xfrm>
          <a:prstGeom prst="rect">
            <a:avLst/>
          </a:prstGeom>
          <a:solidFill>
            <a:srgbClr val="26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26980" y="4818888"/>
            <a:ext cx="10835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7F4EE"/>
                </a:solidFill>
                <a:latin typeface="Aptos"/>
              </a:rPr>
              <a:t>AFTER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51976" y="3913632"/>
            <a:ext cx="225856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7F4EE"/>
                </a:solidFill>
                <a:latin typeface="Aptos Display"/>
              </a:rPr>
              <a:t>options</a:t>
            </a:r>
          </a:p>
        </p:txBody>
      </p:sp>
      <p:sp>
        <p:nvSpPr>
          <p:cNvPr id="15" name="semantic.comparison.side.1"/>
          <p:cNvSpPr/>
          <p:nvPr/>
        </p:nvSpPr>
        <p:spPr>
          <a:xfrm>
            <a:off x="548640" y="2743200"/>
            <a:ext cx="3671316" cy="1143000"/>
          </a:xfrm>
          <a:prstGeom prst="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2907792"/>
            <a:ext cx="32689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7F4EE"/>
                </a:solidFill>
                <a:latin typeface="Aptos"/>
              </a:rPr>
              <a:t>Start small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3255264"/>
            <a:ext cx="32689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8C0D6"/>
                </a:solidFill>
                <a:latin typeface="Aptos"/>
              </a:rPr>
              <a:t>Choose one meaningful workflow to prove the value.</a:t>
            </a:r>
          </a:p>
        </p:txBody>
      </p:sp>
      <p:sp>
        <p:nvSpPr>
          <p:cNvPr id="18" name="semantic.comparison.side.2"/>
          <p:cNvSpPr/>
          <p:nvPr/>
        </p:nvSpPr>
        <p:spPr>
          <a:xfrm>
            <a:off x="4421124" y="2743200"/>
            <a:ext cx="3671316" cy="1143000"/>
          </a:xfrm>
          <a:prstGeom prst="rect">
            <a:avLst/>
          </a:prstGeom>
          <a:solidFill>
            <a:srgbClr val="26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22292" y="2907792"/>
            <a:ext cx="32689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7F4EE"/>
                </a:solidFill>
                <a:latin typeface="Aptos"/>
              </a:rPr>
              <a:t>Make it visible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22292" y="3255264"/>
            <a:ext cx="32689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8C0D6"/>
                </a:solidFill>
                <a:latin typeface="Aptos"/>
              </a:rPr>
              <a:t>Give the team a simple way to inspect progress.</a:t>
            </a:r>
          </a:p>
        </p:txBody>
      </p:sp>
      <p:sp>
        <p:nvSpPr>
          <p:cNvPr id="21" name="semantic.comparison.criterion.1"/>
          <p:cNvSpPr/>
          <p:nvPr/>
        </p:nvSpPr>
        <p:spPr>
          <a:xfrm>
            <a:off x="548640" y="4096512"/>
            <a:ext cx="1417320" cy="438912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4187952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7F4EE"/>
                </a:solidFill>
                <a:latin typeface="Aptos"/>
              </a:rPr>
              <a:t>Learn quickly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8840" y="4169664"/>
            <a:ext cx="28986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8C0D6"/>
                </a:solidFill>
                <a:latin typeface="Aptos"/>
              </a:rPr>
              <a:t>Choose one meaningful workflow to prove the value.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4169664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8C0D6"/>
                </a:solidFill>
                <a:latin typeface="Aptos"/>
              </a:rPr>
              <a:t>Give the team a simple way to inspect progress.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8C0D6"/>
                </a:solidFill>
                <a:latin typeface="Aptos"/>
              </a:rPr>
              <a:t>Choose The Onboarding Pilot For The Next Release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94415" y="642823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B8C0D6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5B560"/>
                </a:solidFill>
                <a:latin typeface="Aptos"/>
              </a:rPr>
              <a:t>STORYBOARD /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7040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>
                <a:solidFill>
                  <a:srgbClr val="F7F4EE"/>
                </a:solidFill>
                <a:latin typeface="Aptos Display"/>
              </a:rPr>
              <a:t>trade-off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64208"/>
            <a:ext cx="640080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B8C0D6"/>
                </a:solidFill>
                <a:latin typeface="Aptos"/>
              </a:rPr>
              <a:t>Use this slide to make the trade-off decision clear for Choose the onboarding pilot for the next release.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66760" y="1627632"/>
            <a:ext cx="3337560" cy="4187952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59368" y="1938528"/>
            <a:ext cx="2752344" cy="109728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59368" y="2286000"/>
            <a:ext cx="275234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E5B560"/>
                </a:solidFill>
                <a:latin typeface="Aptos Display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77656" y="3538728"/>
            <a:ext cx="2715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B8C0D6"/>
                </a:solidFill>
                <a:latin typeface="Aptos"/>
              </a:rPr>
              <a:t>DECISION</a:t>
            </a:r>
          </a:p>
        </p:txBody>
      </p:sp>
      <p:sp>
        <p:nvSpPr>
          <p:cNvPr id="10" name="Chevron 9"/>
          <p:cNvSpPr/>
          <p:nvPr/>
        </p:nvSpPr>
        <p:spPr>
          <a:xfrm>
            <a:off x="8695944" y="4700016"/>
            <a:ext cx="2679192" cy="475488"/>
          </a:xfrm>
          <a:prstGeom prst="chevron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77656" y="3913632"/>
            <a:ext cx="271576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7F4EE"/>
                </a:solidFill>
                <a:latin typeface="Aptos Display"/>
              </a:rPr>
              <a:t>trade-off</a:t>
            </a:r>
          </a:p>
        </p:txBody>
      </p:sp>
      <p:sp>
        <p:nvSpPr>
          <p:cNvPr id="12" name="semantic.decision.statement"/>
          <p:cNvSpPr/>
          <p:nvPr/>
        </p:nvSpPr>
        <p:spPr>
          <a:xfrm>
            <a:off x="548640" y="2743200"/>
            <a:ext cx="7132320" cy="731520"/>
          </a:xfrm>
          <a:prstGeom prst="chevron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2926080"/>
            <a:ext cx="64922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01425"/>
                </a:solidFill>
                <a:latin typeface="Aptos"/>
              </a:rPr>
              <a:t>Use this slide to make the trade-off decision clear for Choose the onboarding pilot for the next release.</a:t>
            </a:r>
          </a:p>
        </p:txBody>
      </p:sp>
      <p:sp>
        <p:nvSpPr>
          <p:cNvPr id="14" name="semantic.decision.option.1"/>
          <p:cNvSpPr/>
          <p:nvPr/>
        </p:nvSpPr>
        <p:spPr>
          <a:xfrm>
            <a:off x="548640" y="3730752"/>
            <a:ext cx="2231136" cy="1024128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3877056"/>
            <a:ext cx="19385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7F4EE"/>
                </a:solidFill>
                <a:latin typeface="Aptos"/>
              </a:rPr>
              <a:t>Protect trust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4187952"/>
            <a:ext cx="19385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8C0D6"/>
                </a:solidFill>
                <a:latin typeface="Aptos"/>
              </a:rPr>
              <a:t>Set clear expectations around quality and ownership.</a:t>
            </a:r>
          </a:p>
        </p:txBody>
      </p:sp>
      <p:sp>
        <p:nvSpPr>
          <p:cNvPr id="17" name="semantic.decision.option.2"/>
          <p:cNvSpPr/>
          <p:nvPr/>
        </p:nvSpPr>
        <p:spPr>
          <a:xfrm>
            <a:off x="2999232" y="3730752"/>
            <a:ext cx="2231136" cy="1024128"/>
          </a:xfrm>
          <a:prstGeom prst="roundRect">
            <a:avLst/>
          </a:prstGeom>
          <a:solidFill>
            <a:srgbClr val="26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45536" y="3877056"/>
            <a:ext cx="19385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7F4EE"/>
                </a:solidFill>
                <a:latin typeface="Aptos"/>
              </a:rPr>
              <a:t>Design for use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45536" y="4187952"/>
            <a:ext cx="19385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8C0D6"/>
                </a:solidFill>
                <a:latin typeface="Aptos"/>
              </a:rPr>
              <a:t>Remove steps that do not help the intended audience.</a:t>
            </a:r>
          </a:p>
        </p:txBody>
      </p:sp>
      <p:sp>
        <p:nvSpPr>
          <p:cNvPr id="20" name="semantic.decision.option.3"/>
          <p:cNvSpPr/>
          <p:nvPr/>
        </p:nvSpPr>
        <p:spPr>
          <a:xfrm>
            <a:off x="5449824" y="3730752"/>
            <a:ext cx="2231136" cy="1024128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96128" y="3877056"/>
            <a:ext cx="19385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7F4EE"/>
                </a:solidFill>
                <a:latin typeface="Aptos"/>
              </a:rPr>
              <a:t>Keep it adaptable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96128" y="4187952"/>
            <a:ext cx="19385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8C0D6"/>
                </a:solidFill>
                <a:latin typeface="Aptos"/>
              </a:rPr>
              <a:t>Leave room for evidence to change the plan.</a:t>
            </a:r>
          </a:p>
        </p:txBody>
      </p:sp>
      <p:sp>
        <p:nvSpPr>
          <p:cNvPr id="23" name="semantic.decision.rationale"/>
          <p:cNvSpPr/>
          <p:nvPr/>
        </p:nvSpPr>
        <p:spPr>
          <a:xfrm>
            <a:off x="548640" y="5010912"/>
            <a:ext cx="7132320" cy="694944"/>
          </a:xfrm>
          <a:prstGeom prst="rect">
            <a:avLst/>
          </a:prstGeom>
          <a:solidFill>
            <a:srgbClr val="26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184648"/>
            <a:ext cx="6766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7F4EE"/>
                </a:solidFill>
                <a:latin typeface="Aptos"/>
              </a:rPr>
              <a:t>RATIONALE  Leave room for evidence to change the plan.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8C0D6"/>
                </a:solidFill>
                <a:latin typeface="Aptos"/>
              </a:rPr>
              <a:t>Choose The Onboarding Pilot For The Next Release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94415" y="642823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B8C0D6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5B560"/>
                </a:solidFill>
                <a:latin typeface="Aptos"/>
              </a:rPr>
              <a:t>STORYBOARD /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7040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>
                <a:solidFill>
                  <a:srgbClr val="F7F4EE"/>
                </a:solidFill>
                <a:latin typeface="Aptos Display"/>
              </a:rPr>
              <a:t>owned next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64208"/>
            <a:ext cx="640080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B8C0D6"/>
                </a:solidFill>
                <a:latin typeface="Aptos"/>
              </a:rPr>
              <a:t>Use this slide to make the owned next step decision clear for Choose the onboarding pilot for the next release.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66760" y="1627632"/>
            <a:ext cx="3337560" cy="4187952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59368" y="1938528"/>
            <a:ext cx="2752344" cy="109728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59368" y="2286000"/>
            <a:ext cx="275234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E5B560"/>
                </a:solidFill>
                <a:latin typeface="Aptos Display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77656" y="3538728"/>
            <a:ext cx="2715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B8C0D6"/>
                </a:solidFill>
                <a:latin typeface="Aptos"/>
              </a:rPr>
              <a:t>SEQUENCE</a:t>
            </a:r>
          </a:p>
        </p:txBody>
      </p:sp>
      <p:sp>
        <p:nvSpPr>
          <p:cNvPr id="10" name="Oval 9"/>
          <p:cNvSpPr/>
          <p:nvPr/>
        </p:nvSpPr>
        <p:spPr>
          <a:xfrm>
            <a:off x="8823960" y="4709160"/>
            <a:ext cx="256032" cy="256032"/>
          </a:xfrm>
          <a:prstGeom prst="ellipse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573768" y="4709160"/>
            <a:ext cx="256032" cy="256032"/>
          </a:xfrm>
          <a:prstGeom prst="ellipse">
            <a:avLst/>
          </a:prstGeom>
          <a:solidFill>
            <a:srgbClr val="26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23576" y="4709160"/>
            <a:ext cx="256032" cy="256032"/>
          </a:xfrm>
          <a:prstGeom prst="ellipse">
            <a:avLst/>
          </a:prstGeom>
          <a:solidFill>
            <a:srgbClr val="26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77656" y="3913632"/>
            <a:ext cx="271576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7F4EE"/>
                </a:solidFill>
                <a:latin typeface="Aptos Display"/>
              </a:rPr>
              <a:t>owned next step</a:t>
            </a:r>
          </a:p>
        </p:txBody>
      </p:sp>
      <p:sp>
        <p:nvSpPr>
          <p:cNvPr id="14" name="semantic.timeline.connector"/>
          <p:cNvSpPr/>
          <p:nvPr/>
        </p:nvSpPr>
        <p:spPr>
          <a:xfrm>
            <a:off x="868680" y="3218688"/>
            <a:ext cx="6492240" cy="73152"/>
          </a:xfrm>
          <a:prstGeom prst="rect">
            <a:avLst/>
          </a:prstGeom>
          <a:solidFill>
            <a:srgbClr val="745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emantic.timeline.step.1"/>
          <p:cNvSpPr/>
          <p:nvPr/>
        </p:nvSpPr>
        <p:spPr>
          <a:xfrm>
            <a:off x="1554480" y="3054096"/>
            <a:ext cx="365760" cy="365760"/>
          </a:xfrm>
          <a:prstGeom prst="ellipse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2743200"/>
            <a:ext cx="22311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E5B560"/>
                </a:solidFill>
                <a:latin typeface="Aptos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3675887"/>
            <a:ext cx="2231136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7F4EE"/>
                </a:solidFill>
                <a:latin typeface="Aptos"/>
              </a:rPr>
              <a:t>One accountable owner: Assign responsibility for the immediate decision.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4553712"/>
            <a:ext cx="223113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B8C0D6"/>
                </a:solidFill>
                <a:latin typeface="Aptos"/>
              </a:rPr>
              <a:t/>
            </a:r>
          </a:p>
        </p:txBody>
      </p:sp>
      <p:sp>
        <p:nvSpPr>
          <p:cNvPr id="19" name="semantic.timeline.step.2"/>
          <p:cNvSpPr/>
          <p:nvPr/>
        </p:nvSpPr>
        <p:spPr>
          <a:xfrm>
            <a:off x="3931920" y="3054096"/>
            <a:ext cx="365760" cy="365760"/>
          </a:xfrm>
          <a:prstGeom prst="ellipse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99232" y="2743200"/>
            <a:ext cx="22311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E5B560"/>
                </a:solidFill>
                <a:latin typeface="Aptos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99232" y="3675887"/>
            <a:ext cx="2231136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7F4EE"/>
                </a:solidFill>
                <a:latin typeface="Aptos"/>
              </a:rPr>
              <a:t>A visible milestone: Define what completion looks like in plain language.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99232" y="4553712"/>
            <a:ext cx="223113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B8C0D6"/>
                </a:solidFill>
                <a:latin typeface="Aptos"/>
              </a:rPr>
              <a:t/>
            </a:r>
          </a:p>
        </p:txBody>
      </p:sp>
      <p:sp>
        <p:nvSpPr>
          <p:cNvPr id="23" name="semantic.timeline.step.3"/>
          <p:cNvSpPr/>
          <p:nvPr/>
        </p:nvSpPr>
        <p:spPr>
          <a:xfrm>
            <a:off x="6309360" y="3054096"/>
            <a:ext cx="365760" cy="365760"/>
          </a:xfrm>
          <a:prstGeom prst="ellipse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76672" y="2743200"/>
            <a:ext cx="22311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E5B560"/>
                </a:solidFill>
                <a:latin typeface="Aptos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76672" y="3675887"/>
            <a:ext cx="2231136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7F4EE"/>
                </a:solidFill>
                <a:latin typeface="Aptos"/>
              </a:rPr>
              <a:t>A review rhythm: Decide when the result will be assessed together.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76672" y="4553712"/>
            <a:ext cx="223113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B8C0D6"/>
                </a:solidFill>
                <a:latin typeface="Aptos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8C0D6"/>
                </a:solidFill>
                <a:latin typeface="Aptos"/>
              </a:rPr>
              <a:t>Choose The Onboarding Pilot For The Next Release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94415" y="642823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B8C0D6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Choose The Onboarding Pilot For The Next Release</dc:title>
  <dc:subject>Audience: Product and customer-success leaders | Outcome: Approve one measurable first-30-day onboarding exper</dc:subject>
  <dc:creator>Storyboard Studio</dc:creator>
  <cp:keywords/>
  <dc:description/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