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383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D3829"/>
                </a:solidFill>
                <a:latin typeface="Aptos Display"/>
              </a:rPr>
              <a:t>Private AI, Clear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577060"/>
                </a:solidFill>
                <a:latin typeface="Aptos"/>
              </a:rPr>
              <a:t>A local review loop for useful, accountable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D3829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77060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1F5EE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The trust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64008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77060"/>
                </a:solidFill>
                <a:latin typeface="Aptos"/>
              </a:rPr>
              <a:t>Teams want useful AI without turning private decisions into opaque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The trust gap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Start with the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Name the audience, trade-off, and next step before asking for a draft.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Keep evidence visible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Surface unsupported claims and unresolved sources while the story is still editable.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Make ownership explicit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A named reviewer can accept, rewrite, or defer each finding.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Private AI, Clear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A private review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2011680"/>
            <a:ext cx="71323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77060"/>
                </a:solidFill>
                <a:latin typeface="Aptos"/>
              </a:rPr>
              <a:t>Use deterministic checks first, then make any model-assisted step an explicit choice.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A private review loop</a:t>
            </a:r>
          </a:p>
        </p:txBody>
      </p:sp>
      <p:sp>
        <p:nvSpPr>
          <p:cNvPr id="11" name="semantic.process.step.1"/>
          <p:cNvSpPr/>
          <p:nvPr/>
        </p:nvSpPr>
        <p:spPr>
          <a:xfrm>
            <a:off x="4160520" y="2788920"/>
            <a:ext cx="2487168" cy="914400"/>
          </a:xfrm>
          <a:prstGeom prst="chevron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30358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1F5EE"/>
                </a:solidFill>
                <a:latin typeface="Aptos"/>
              </a:rPr>
              <a:t>Brief locally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4160520"/>
            <a:ext cx="22128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77060"/>
                </a:solidFill>
                <a:latin typeface="Aptos"/>
              </a:rPr>
              <a:t>Keep the source brief, notes, and evidence in the local project.</a:t>
            </a:r>
          </a:p>
        </p:txBody>
      </p:sp>
      <p:sp>
        <p:nvSpPr>
          <p:cNvPr id="14" name="semantic.process.step.2"/>
          <p:cNvSpPr/>
          <p:nvPr/>
        </p:nvSpPr>
        <p:spPr>
          <a:xfrm>
            <a:off x="6537960" y="3044952"/>
            <a:ext cx="2487168" cy="914400"/>
          </a:xfrm>
          <a:prstGeom prst="chevron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3291839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D3829"/>
                </a:solidFill>
                <a:latin typeface="Aptos"/>
              </a:rPr>
              <a:t>Diagnose the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160520"/>
            <a:ext cx="22128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77060"/>
                </a:solidFill>
                <a:latin typeface="Aptos"/>
              </a:rPr>
              <a:t>Review progression, density, claims, and ownership before visual polish.</a:t>
            </a:r>
          </a:p>
        </p:txBody>
      </p:sp>
      <p:sp>
        <p:nvSpPr>
          <p:cNvPr id="17" name="semantic.process.step.3"/>
          <p:cNvSpPr/>
          <p:nvPr/>
        </p:nvSpPr>
        <p:spPr>
          <a:xfrm>
            <a:off x="8915400" y="2788920"/>
            <a:ext cx="2487168" cy="914400"/>
          </a:xfrm>
          <a:prstGeom prst="chevron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30358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D3829"/>
                </a:solidFill>
                <a:latin typeface="Aptos"/>
              </a:rPr>
              <a:t>Export with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4160520"/>
            <a:ext cx="22128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77060"/>
                </a:solidFill>
                <a:latin typeface="Aptos"/>
              </a:rPr>
              <a:t>Ship native PowerPoint plus a receipt that records the generated artifact.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Private AI, Clear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Approve the private AI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76352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77060"/>
                </a:solidFill>
                <a:latin typeface="Aptos"/>
              </a:rPr>
              <a:t>Pilot one internal AI workflow with human sign-off.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Approve the private AI loop</a:t>
            </a:r>
          </a:p>
        </p:txBody>
      </p:sp>
      <p:sp>
        <p:nvSpPr>
          <p:cNvPr id="11" name="semantic.decision.statement"/>
          <p:cNvSpPr/>
          <p:nvPr/>
        </p:nvSpPr>
        <p:spPr>
          <a:xfrm>
            <a:off x="548640" y="2743200"/>
            <a:ext cx="7543800" cy="731520"/>
          </a:xfrm>
          <a:prstGeom prst="chevron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926080"/>
            <a:ext cx="6903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1F5EE"/>
                </a:solidFill>
                <a:latin typeface="Aptos"/>
              </a:rPr>
              <a:t>Pilot one internal AI workflow with human sign-off.</a:t>
            </a:r>
          </a:p>
        </p:txBody>
      </p:sp>
      <p:sp>
        <p:nvSpPr>
          <p:cNvPr id="13" name="semantic.decision.option.1"/>
          <p:cNvSpPr/>
          <p:nvPr/>
        </p:nvSpPr>
        <p:spPr>
          <a:xfrm>
            <a:off x="548640" y="3730752"/>
            <a:ext cx="2368296" cy="1024128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877056"/>
            <a:ext cx="2075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3829"/>
                </a:solidFill>
                <a:latin typeface="Aptos"/>
              </a:rPr>
              <a:t>Local-first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4187952"/>
            <a:ext cx="2075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No-key planner; evidence gaps stay visible.</a:t>
            </a:r>
          </a:p>
        </p:txBody>
      </p:sp>
      <p:sp>
        <p:nvSpPr>
          <p:cNvPr id="16" name="semantic.decision.option.2"/>
          <p:cNvSpPr/>
          <p:nvPr/>
        </p:nvSpPr>
        <p:spPr>
          <a:xfrm>
            <a:off x="3136392" y="3730752"/>
            <a:ext cx="2368296" cy="1024128"/>
          </a:xfrm>
          <a:prstGeom prst="round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82696" y="3877056"/>
            <a:ext cx="2075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3829"/>
                </a:solidFill>
                <a:latin typeface="Aptos"/>
              </a:rPr>
              <a:t>Hosted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2696" y="4187952"/>
            <a:ext cx="2075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Optional provider; disclose the network boundary.</a:t>
            </a:r>
          </a:p>
        </p:txBody>
      </p:sp>
      <p:sp>
        <p:nvSpPr>
          <p:cNvPr id="19" name="semantic.decision.option.3"/>
          <p:cNvSpPr/>
          <p:nvPr/>
        </p:nvSpPr>
        <p:spPr>
          <a:xfrm>
            <a:off x="5724144" y="3730752"/>
            <a:ext cx="2368296" cy="1024128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0448" y="3877056"/>
            <a:ext cx="2075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3829"/>
                </a:solidFill>
                <a:latin typeface="Aptos"/>
              </a:rPr>
              <a:t>Next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4187952"/>
            <a:ext cx="2075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AI program lead reviews the pilot before expansion.</a:t>
            </a:r>
          </a:p>
        </p:txBody>
      </p:sp>
      <p:sp>
        <p:nvSpPr>
          <p:cNvPr id="22" name="semantic.decision.rationale"/>
          <p:cNvSpPr/>
          <p:nvPr/>
        </p:nvSpPr>
        <p:spPr>
          <a:xfrm>
            <a:off x="548640" y="5010912"/>
            <a:ext cx="7543800" cy="694944"/>
          </a:xfrm>
          <a:prstGeom prst="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84648"/>
            <a:ext cx="7178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3829"/>
                </a:solidFill>
                <a:latin typeface="Aptos"/>
              </a:rPr>
              <a:t>RATIONALE  AI program lead reviews the pilot before expansion.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Private AI, Clear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Private AI, Clear Decisions</dc:title>
  <dc:subject>A local review loop for useful, accountable automation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