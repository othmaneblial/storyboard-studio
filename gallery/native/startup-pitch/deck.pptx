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>Entirely synthetic business example. This deck contains no real customer results, market estimates or fundraising claims.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EFF3F5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search teams lose the thread between interviews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FIELDWORK — THE RESEARCH WORKSPACE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Research teams lose the thread between interviews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A fictional product team stores interview notes in documents, decisions in chat, and research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plans in spreadsheets. Insights become difficult to trace when the project changes hands.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continuity, not another note-taking tool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FIELDWORK — THE RESEARCH WORKSPACE  /  PROBLEM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The problem is continuity, not another note-taking </a:t>
            </a:r>
            <a:endParaRPr lang="en-US" sz="4000"/>
          </a:p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tool</a:t>
            </a:r>
            <a:endParaRPr lang="en-US" sz="40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16637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Fragmented evidence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169666"/>
            <a:ext cx="4965700" cy="6276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FF3F5"/>
                </a:solidFill>
                <a:latin typeface="Carlito"/>
              </a:rPr>
              <a:t xml:space="preserve">An insight has no durable link to the interview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FF3F5"/>
                </a:solidFill>
                <a:latin typeface="Carlito"/>
              </a:rPr>
              <a:t xml:space="preserve">excerpt that supports it.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16637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Unclear decisions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169666"/>
            <a:ext cx="4965700" cy="6276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FF3F5"/>
                </a:solidFill>
                <a:latin typeface="Carlito"/>
              </a:rPr>
              <a:t xml:space="preserve">The team cannot easily tell which open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FF3F5"/>
                </a:solidFill>
                <a:latin typeface="Carlito"/>
              </a:rPr>
              <a:t xml:space="preserve">questions changed the product direction.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09600" y="4229100"/>
            <a:ext cx="5372100" cy="16637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12800" y="4432300"/>
            <a:ext cx="496570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Expensive handoffs</a:t>
            </a:r>
            <a:endParaRPr lang="en-US" sz="2400"/>
          </a:p>
        </p:txBody>
      </p:sp>
      <p:sp>
        <p:nvSpPr>
          <p:cNvPr id="12" name="Text 12"/>
          <p:cNvSpPr txBox="1"/>
          <p:nvPr/>
        </p:nvSpPr>
        <p:spPr>
          <a:xfrm>
            <a:off x="812800" y="5061966"/>
            <a:ext cx="4965700" cy="6276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FF3F5"/>
                </a:solidFill>
                <a:latin typeface="Carlito"/>
              </a:rPr>
              <a:t xml:space="preserve">The next researcher starts by reconstructing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EFF3F5"/>
                </a:solidFill>
                <a:latin typeface="Carlito"/>
              </a:rPr>
              <a:t xml:space="preserve">the previous project.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5" name="Text 15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expanding the pilot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FIELDWORK — THE RESEARCH WORKSPACE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Evidence to gather before expanding the pilot</a:t>
            </a:r>
            <a:endParaRPr lang="en-US" sz="40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Interview researchers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Observe how participants locate an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excerpt and reconstruct a decision. Treat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findings as unresolved until the author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reviews them.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Test the handoff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Ask a second researcher to continue a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synthetic project without a verbal briefing.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options trade speed against traceability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FIELDWORK — THE RESEARCH WORKSPACE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Two options trade speed against traceability</a:t>
            </a:r>
            <a:endParaRPr lang="en-US" sz="40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Improve existing documents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Add templates and naming conventions.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Faster to start, with continued manual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linking.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Build a focused research workspace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Link excerpts, questions and decisions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locally. More initial engineering, with a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narrower handoff workflow.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a focused six-week pilot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FIELDWORK — THE RESEARCH WORKSPACE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Recommend a focused six-week pilot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The proposed workspace keeps source excerpts next to the decisions they inform. Pilot one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handoff workflow before investing in integrations or automated analysis.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main risk is adding work for researchers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FIELDWORK — THE RESEARCH WORKSPACE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The main risk is adding work for researchers</a:t>
            </a:r>
            <a:endParaRPr lang="en-US" sz="40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Keep capture lightweight. Do not make authors maintain a second copy of their notes. Review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the time spent linking evidence alongside any improvement in handoff clarity.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review the evidence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A6B4C2"/>
                </a:solidFill>
                <a:latin typeface="Carlito"/>
              </a:rPr>
              <a:t xml:space="preserve">FIELDWORK — THE RESEARCH WORKSPACE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Next action: approve the pilot and review the </a:t>
            </a:r>
            <a:endParaRPr lang="en-US" sz="4000"/>
          </a:p>
          <a:p>
            <a:pPr>
              <a:lnSpc>
                <a:spcPts val="4880"/>
              </a:lnSpc>
              <a:buNone/>
            </a:pPr>
            <a:r>
              <a:rPr lang="en-US" sz="4000" b="1" i="0">
                <a:solidFill>
                  <a:srgbClr val="EFF3F5"/>
                </a:solidFill>
                <a:latin typeface="Carlito"/>
              </a:rPr>
              <a:t xml:space="preserve">evidence</a:t>
            </a:r>
            <a:endParaRPr lang="en-US" sz="40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Owner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Maya, product lead, owns recruitment and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the pilot scope.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202D3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EFF3F5"/>
                </a:solidFill>
                <a:latin typeface="Carlito"/>
              </a:rPr>
              <a:t xml:space="preserve">Review point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At the end of six weeks, inspect the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interview notes and decide whether to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EFF3F5"/>
                </a:solidFill>
                <a:latin typeface="Carlito"/>
              </a:rPr>
              <a:t xml:space="preserve">continue, revise or stop.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A6B4C2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A6B4C2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">
  <a:themeElements>
    <a:clrScheme name="Storyboard">
      <a:dk1>
        <a:srgbClr val="EFF3F5"/>
      </a:dk1>
      <a:lt1>
        <a:srgbClr val="141C26"/>
      </a:lt1>
      <a:dk2>
        <a:srgbClr val="A6B4C2"/>
      </a:dk2>
      <a:lt2>
        <a:srgbClr val="202D3C"/>
      </a:lt2>
      <a:accent1>
        <a:srgbClr val="9DD8C0"/>
      </a:accent1>
      <a:accent2>
        <a:srgbClr val="A6B4C2"/>
      </a:accent2>
      <a:accent3>
        <a:srgbClr val="9DD8C0"/>
      </a:accent3>
      <a:accent4>
        <a:srgbClr val="EFF3F5"/>
      </a:accent4>
      <a:accent5>
        <a:srgbClr val="A6B4C2"/>
      </a:accent5>
      <a:accent6>
        <a:srgbClr val="9DD8C0"/>
      </a:accent6>
      <a:hlink>
        <a:srgbClr val="9DD8C0"/>
      </a:hlink>
      <a:folHlink>
        <a:srgbClr val="A6B4C2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Fieldwork — the research workspace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343f25f550bc4d395a3ef85e24f61026960b269b4ec3e717071a53af136c7f49</vt:lpwstr>
  </property>
</Properties>
</file>