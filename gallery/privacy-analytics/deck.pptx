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data-flow review — Maintainer-authored fixture mapping the proposed event allowlist and retention boundary. — owner Privacy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/ evidence (author-supplied; not verified):</a:t>
            </a:r>
          </a:p>
          <a:p>
            <a:r>
              <a:t>Synthetic data-flow review — Maintainer-authored fixture mapping the proposed event allowlist and retention boundary. — owner Privacy lead — status unresolved — claims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94360"/>
            <a:ext cx="91440" cy="539496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915400" y="0"/>
            <a:ext cx="3276295" cy="6858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15400" y="4297680"/>
            <a:ext cx="3276295" cy="25603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914400"/>
            <a:ext cx="2194560" cy="146304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768096"/>
            <a:ext cx="5212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5B560"/>
                </a:solidFill>
                <a:latin typeface="Aptos"/>
              </a:rPr>
              <a:t>STORYBOARD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53312"/>
            <a:ext cx="740664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800" b="1">
                <a:solidFill>
                  <a:srgbClr val="F7F4EE"/>
                </a:solidFill>
                <a:latin typeface="Aptos Display"/>
              </a:rPr>
              <a:t>Choose the analytics path for a privacy-sensitive product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9037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>
                <a:solidFill>
                  <a:srgbClr val="B8C0D6"/>
                </a:solidFill>
                <a:latin typeface="Aptos"/>
              </a:rPr>
              <a:t>For Product, privacy, and engineering leads — Approve a reversible measurement path with an explicit retention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64040" y="1298448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A concise, editable deck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64040" y="2057400"/>
            <a:ext cx="2057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B8C0D6"/>
                </a:solidFill>
                <a:latin typeface="Aptos"/>
              </a:rPr>
              <a:t>Prepared for a clear conversation, not a wall of slides.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4800600"/>
            <a:ext cx="20116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01425"/>
                </a:solidFill>
                <a:latin typeface="Aptos Display"/>
              </a:rPr>
              <a:t>EDITABLE
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synthetic product team needs activation signals for one pilot while preserving its local-first promise and avoiding an irreversible vendor dependency.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decision in context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54864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Audience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Product, privacy, and engineering leads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54864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Desired outcome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Approve a reversible measurement path with an explicit retention boundary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54864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4358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Choose the analytics path for a privacy-sensitive product 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analytics path for a privacy-sensitive product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The decision must work inside these author-defined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KEY 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boundaries that matter</a:t>
            </a:r>
          </a:p>
        </p:txBody>
      </p:sp>
      <p:sp>
        <p:nvSpPr>
          <p:cNvPr id="11" name="semantic.standard.point.1"/>
          <p:cNvSpPr/>
          <p:nvPr/>
        </p:nvSpPr>
        <p:spPr>
          <a:xfrm>
            <a:off x="4160520" y="27889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5112" y="29535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28986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8986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No raw content collection</a:t>
            </a:r>
          </a:p>
        </p:txBody>
      </p:sp>
      <p:sp>
        <p:nvSpPr>
          <p:cNvPr id="15" name="semantic.standard.point.2"/>
          <p:cNvSpPr/>
          <p:nvPr/>
        </p:nvSpPr>
        <p:spPr>
          <a:xfrm>
            <a:off x="4160520" y="3703320"/>
            <a:ext cx="7132320" cy="768096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25112" y="38679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55464" y="38130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130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Thirty-day pilot</a:t>
            </a:r>
          </a:p>
        </p:txBody>
      </p:sp>
      <p:sp>
        <p:nvSpPr>
          <p:cNvPr id="19" name="semantic.standard.point.3"/>
          <p:cNvSpPr/>
          <p:nvPr/>
        </p:nvSpPr>
        <p:spPr>
          <a:xfrm>
            <a:off x="4160520" y="4617720"/>
            <a:ext cx="7132320" cy="768096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5112" y="4782312"/>
            <a:ext cx="47548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5B560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4727448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7F4EE"/>
                </a:solidFill>
                <a:latin typeface="Aptos"/>
              </a:rPr>
              <a:t>Constraint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727448"/>
            <a:ext cx="41696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B8C0D6"/>
                </a:solidFill>
                <a:latin typeface="Aptos"/>
              </a:rPr>
              <a:t>Document deletion 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analytics path for a privacy-sensitive product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607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763524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only the options and decision lens supplied in the brief.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41080" y="1627632"/>
            <a:ext cx="28803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33688" y="1938528"/>
            <a:ext cx="22951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33688" y="2286000"/>
            <a:ext cx="22951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1976" y="3538728"/>
            <a:ext cx="22585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COMPARE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51976" y="4709160"/>
            <a:ext cx="1083564" cy="50292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51976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BEFORE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26980" y="4709160"/>
            <a:ext cx="1083564" cy="50292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26980" y="4818888"/>
            <a:ext cx="108356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>
                <a:solidFill>
                  <a:srgbClr val="F7F4EE"/>
                </a:solidFill>
                <a:latin typeface="Aptos"/>
              </a:rP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1976" y="3913632"/>
            <a:ext cx="22585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options on the table</a:t>
            </a:r>
          </a:p>
        </p:txBody>
      </p:sp>
      <p:sp>
        <p:nvSpPr>
          <p:cNvPr id="15" name="semantic.comparison.side.1"/>
          <p:cNvSpPr/>
          <p:nvPr/>
        </p:nvSpPr>
        <p:spPr>
          <a:xfrm>
            <a:off x="548640" y="2743200"/>
            <a:ext cx="3671316" cy="1143000"/>
          </a:xfrm>
          <a:prstGeom prst="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Self-hosted aggregate events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Collect a minimal allowlist of aggregate product events on team-owned infrastructure.</a:t>
            </a:r>
          </a:p>
        </p:txBody>
      </p:sp>
      <p:sp>
        <p:nvSpPr>
          <p:cNvPr id="18" name="semantic.comparison.side.2"/>
          <p:cNvSpPr/>
          <p:nvPr/>
        </p:nvSpPr>
        <p:spPr>
          <a:xfrm>
            <a:off x="4421124" y="2743200"/>
            <a:ext cx="3671316" cy="1143000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22292" y="2907792"/>
            <a:ext cx="32689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7F4EE"/>
                </a:solidFill>
                <a:latin typeface="Aptos"/>
              </a:rPr>
              <a:t>Managed privacy-focused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2292" y="3255264"/>
            <a:ext cx="3268980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B8C0D6"/>
                </a:solidFill>
                <a:latin typeface="Aptos"/>
              </a:rPr>
              <a:t>Use a bounded managed service with a reviewed retention and deletion contract.</a:t>
            </a:r>
          </a:p>
        </p:txBody>
      </p:sp>
      <p:sp>
        <p:nvSpPr>
          <p:cNvPr id="21" name="semantic.comparison.criterion.1"/>
          <p:cNvSpPr/>
          <p:nvPr/>
        </p:nvSpPr>
        <p:spPr>
          <a:xfrm>
            <a:off x="548640" y="4096512"/>
            <a:ext cx="1417320" cy="438912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187952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7F4EE"/>
                </a:solidFill>
                <a:latin typeface="Aptos"/>
              </a:rPr>
              <a:t>Operational ownership versus vendor dependency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48840" y="4169664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Collect a minimal allowlist of aggregate product events on team-owned infrastructure.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20640" y="4169664"/>
            <a:ext cx="2971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B8C0D6"/>
                </a:solidFill>
                <a:latin typeface="Aptos"/>
              </a:rPr>
              <a:t>Use a bounded managed service with a reviewed retention and deletion contract.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analytics path for a privacy-sensitive product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70408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64208"/>
            <a:ext cx="64008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Choose the analytics path for a privacy-sensitive product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66760" y="1627632"/>
            <a:ext cx="333756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59368" y="1938528"/>
            <a:ext cx="275234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59368" y="2286000"/>
            <a:ext cx="275234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7656" y="3538728"/>
            <a:ext cx="2715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DECISION</a:t>
            </a:r>
          </a:p>
        </p:txBody>
      </p:sp>
      <p:sp>
        <p:nvSpPr>
          <p:cNvPr id="10" name="Chevron 9"/>
          <p:cNvSpPr/>
          <p:nvPr/>
        </p:nvSpPr>
        <p:spPr>
          <a:xfrm>
            <a:off x="8695944" y="4700016"/>
            <a:ext cx="2679192" cy="475488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77656" y="3913632"/>
            <a:ext cx="271576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trade-off to accept</a:t>
            </a:r>
          </a:p>
        </p:txBody>
      </p:sp>
      <p:sp>
        <p:nvSpPr>
          <p:cNvPr id="12" name="semantic.decision.statement"/>
          <p:cNvSpPr/>
          <p:nvPr/>
        </p:nvSpPr>
        <p:spPr>
          <a:xfrm>
            <a:off x="548640" y="2743200"/>
            <a:ext cx="7132320" cy="731520"/>
          </a:xfrm>
          <a:prstGeom prst="chevron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926080"/>
            <a:ext cx="649224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425"/>
                </a:solidFill>
                <a:latin typeface="Aptos"/>
              </a:rPr>
              <a:t>Choose the analytics path for a privacy-sensitive product pilot</a:t>
            </a:r>
          </a:p>
        </p:txBody>
      </p:sp>
      <p:sp>
        <p:nvSpPr>
          <p:cNvPr id="14" name="semantic.decision.option.1"/>
          <p:cNvSpPr/>
          <p:nvPr/>
        </p:nvSpPr>
        <p:spPr>
          <a:xfrm>
            <a:off x="548640" y="3730752"/>
            <a:ext cx="3456432" cy="1024128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Self-hosted aggregate events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Collect a minimal allowlist of aggregate product events on team-owned infrastructure.</a:t>
            </a:r>
          </a:p>
        </p:txBody>
      </p:sp>
      <p:sp>
        <p:nvSpPr>
          <p:cNvPr id="17" name="semantic.decision.option.2"/>
          <p:cNvSpPr/>
          <p:nvPr/>
        </p:nvSpPr>
        <p:spPr>
          <a:xfrm>
            <a:off x="4224528" y="3730752"/>
            <a:ext cx="3456432" cy="1024128"/>
          </a:xfrm>
          <a:prstGeom prst="round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3877056"/>
            <a:ext cx="3163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7F4EE"/>
                </a:solidFill>
                <a:latin typeface="Aptos"/>
              </a:rPr>
              <a:t>Managed privacy-focused service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0832" y="41879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Use a bounded managed service with a reviewed retention and deletion contract.</a:t>
            </a:r>
          </a:p>
        </p:txBody>
      </p:sp>
      <p:sp>
        <p:nvSpPr>
          <p:cNvPr id="20" name="semantic.decision.rationale"/>
          <p:cNvSpPr/>
          <p:nvPr/>
        </p:nvSpPr>
        <p:spPr>
          <a:xfrm>
            <a:off x="548640" y="5010912"/>
            <a:ext cx="7132320" cy="694944"/>
          </a:xfrm>
          <a:prstGeom prst="rect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184648"/>
            <a:ext cx="6766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7F4EE"/>
                </a:solidFill>
                <a:latin typeface="Aptos"/>
              </a:rPr>
              <a:t>RATIONALE  Operational ownership versus vendor dependency; Setup speed versus infrastructure control  ·  OWNER  Product operations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analytics path for a privacy-sensitive product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2011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5B560"/>
                </a:solidFill>
                <a:latin typeface="Aptos"/>
              </a:rPr>
              <a:t>STORYBOARD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60520" y="804672"/>
            <a:ext cx="713232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60520" y="1664208"/>
            <a:ext cx="713232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B8C0D6"/>
                </a:solidFill>
                <a:latin typeface="Aptos"/>
              </a:rPr>
              <a:t>Compare both paths against the event allowlist and approve one reversible pilot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27632"/>
            <a:ext cx="3200400" cy="4187952"/>
          </a:xfrm>
          <a:prstGeom prst="roundRect">
            <a:avLst/>
          </a:prstGeom>
          <a:solidFill>
            <a:srgbClr val="1B21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1938528"/>
            <a:ext cx="2615184" cy="109728"/>
          </a:xfrm>
          <a:prstGeom prst="rect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286000"/>
            <a:ext cx="2615184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1">
                <a:solidFill>
                  <a:srgbClr val="E5B560"/>
                </a:solidFill>
                <a:latin typeface="Aptos Display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38728"/>
            <a:ext cx="257860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B8C0D6"/>
                </a:solidFill>
                <a:latin typeface="Aptos"/>
              </a:rPr>
              <a:t>SEQUENCE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709160"/>
            <a:ext cx="256032" cy="256032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05456" y="4709160"/>
            <a:ext cx="256032" cy="256032"/>
          </a:xfrm>
          <a:prstGeom prst="ellipse">
            <a:avLst/>
          </a:prstGeom>
          <a:solidFill>
            <a:srgbClr val="262E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913632"/>
            <a:ext cx="2578608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>
                <a:solidFill>
                  <a:srgbClr val="F7F4EE"/>
                </a:solidFill>
                <a:latin typeface="Aptos Display"/>
              </a:rPr>
              <a:t>The owned next step</a:t>
            </a:r>
          </a:p>
        </p:txBody>
      </p:sp>
      <p:sp>
        <p:nvSpPr>
          <p:cNvPr id="14" name="semantic.timeline.connector"/>
          <p:cNvSpPr/>
          <p:nvPr/>
        </p:nvSpPr>
        <p:spPr>
          <a:xfrm>
            <a:off x="4480560" y="3218688"/>
            <a:ext cx="6492240" cy="73152"/>
          </a:xfrm>
          <a:prstGeom prst="rect">
            <a:avLst/>
          </a:prstGeom>
          <a:solidFill>
            <a:srgbClr val="745B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emantic.timeline.step.1"/>
          <p:cNvSpPr/>
          <p:nvPr/>
        </p:nvSpPr>
        <p:spPr>
          <a:xfrm>
            <a:off x="576072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3367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Next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Compare both paths against the event allowlist and approve one reversible pilot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3367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Product operations lead</a:t>
            </a:r>
          </a:p>
        </p:txBody>
      </p:sp>
      <p:sp>
        <p:nvSpPr>
          <p:cNvPr id="19" name="semantic.timeline.step.2"/>
          <p:cNvSpPr/>
          <p:nvPr/>
        </p:nvSpPr>
        <p:spPr>
          <a:xfrm>
            <a:off x="9326880" y="3054096"/>
            <a:ext cx="365760" cy="365760"/>
          </a:xfrm>
          <a:prstGeom prst="ellipse">
            <a:avLst/>
          </a:prstGeom>
          <a:solidFill>
            <a:srgbClr val="E5B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99832" y="2743200"/>
            <a:ext cx="34198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E5B560"/>
                </a:solidFill>
                <a:latin typeface="Aptos"/>
              </a:rPr>
              <a:t>2026-10-15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9832" y="3675887"/>
            <a:ext cx="341985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F7F4EE"/>
                </a:solidFill>
                <a:latin typeface="Aptos"/>
              </a:rPr>
              <a:t>Review the author-supplied evidence and decide whether to continue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99832" y="4553712"/>
            <a:ext cx="34198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B8C0D6"/>
                </a:solidFill>
                <a:latin typeface="Aptos"/>
              </a:rPr>
              <a:t>Product operations lead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5669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B8C0D6"/>
                </a:solidFill>
                <a:latin typeface="Aptos"/>
              </a:rPr>
              <a:t>Choose the analytics path for a privacy-sensitive product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42823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B8C0D6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Choose the analytics path for a privacy-sensitive product pilot</dc:title>
  <dc:subject>For Product, privacy, and engineering leads — Approve a reversible measurement path with an explicit retention</dc:subject>
  <dc:creator>Storyboard Studio</dc:creator>
  <cp:keywords/>
  <dc:description>Storyboard Studio 0.2.0; story schema 2; outline sha256 5556312e0735c457c5bf43505afe75f1c80ea524b27af1567d2ef2c7537fd4fc; integrity does not prove factual truth.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