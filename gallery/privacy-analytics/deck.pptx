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/ evidence (author-supplied; not verified):</a:t>
            </a:r>
          </a:p>
          <a:p>
            <a:r>
              <a:t>Synthetic data-flow review — Maintainer-authored fixture mapping the proposed event allowlist and retention boundary. — Privacy lead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/ evidence (author-supplied; not verified):</a:t>
            </a:r>
          </a:p>
          <a:p>
            <a:r>
              <a:t>Synthetic data-flow review — Maintainer-authored fixture mapping the proposed event allowlist and retention boundary. — Privacy lead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94360"/>
            <a:ext cx="91440" cy="539496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15400" y="0"/>
            <a:ext cx="3276295" cy="6858000"/>
          </a:xfrm>
          <a:prstGeom prst="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15400" y="4297680"/>
            <a:ext cx="3276295" cy="256032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64040" y="914400"/>
            <a:ext cx="2194560" cy="146304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76809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STORYBOARD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74066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7F4EE"/>
                </a:solidFill>
                <a:latin typeface="Aptos Display"/>
              </a:rPr>
              <a:t>Choose the analytics path for a privacy-sensitive product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903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B8C0D6"/>
                </a:solidFill>
                <a:latin typeface="Aptos"/>
              </a:rPr>
              <a:t>For Product, privacy, and engineering leads — Approve a reversible measurement path with an explicit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298448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7F4EE"/>
                </a:solidFill>
                <a:latin typeface="Aptos"/>
              </a:rPr>
              <a:t>A concise, editable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2057400"/>
            <a:ext cx="2057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B8C0D6"/>
                </a:solidFill>
                <a:latin typeface="Aptos"/>
              </a:rPr>
              <a:t>Prepared for a clear conversation, not a wall of slides.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48006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01425"/>
                </a:solidFill>
                <a:latin typeface="Aptos Display"/>
              </a:rPr>
              <a:t>EDITABLE
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5B560"/>
                </a:solidFill>
                <a:latin typeface="Aptos"/>
              </a:rPr>
              <a:t>STORYBOARD /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7F4EE"/>
                </a:solidFill>
                <a:latin typeface="Aptos Display"/>
              </a:rPr>
              <a:t>The decision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640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C0D6"/>
                </a:solidFill>
                <a:latin typeface="Aptos"/>
              </a:rPr>
              <a:t>The synthetic product team needs activation signals for one pilot while preserving its local-first promise and avoiding an irreversible vendor dependency.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627632"/>
            <a:ext cx="3337560" cy="4187952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59368" y="1938528"/>
            <a:ext cx="2752344" cy="109728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2286000"/>
            <a:ext cx="275234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E5B560"/>
                </a:solidFill>
                <a:latin typeface="Aptos Display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7656" y="3538728"/>
            <a:ext cx="27157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8C0D6"/>
                </a:solidFill>
                <a:latin typeface="Aptos"/>
              </a:rPr>
              <a:t>KEY 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7656" y="3913632"/>
            <a:ext cx="271576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7F4EE"/>
                </a:solidFill>
                <a:latin typeface="Aptos Display"/>
              </a:rPr>
              <a:t>The decision in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6382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3108960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3108960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Product, privacy, and engineering leads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7132320" cy="749808"/>
          </a:xfrm>
          <a:prstGeom prst="round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51376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096512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Desired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096512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Approve a reversible measurement path with an explicit retention boundary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46904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8406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5084064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Choose the analytics path for a privacy-sensitive product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8C0D6"/>
                </a:solidFill>
                <a:latin typeface="Aptos"/>
              </a:rPr>
              <a:t>Choose the analytics path for a privacy-sensitive product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2823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8C0D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5B560"/>
                </a:solidFill>
                <a:latin typeface="Aptos"/>
              </a:rPr>
              <a:t>STORYBOARD /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0520" y="804672"/>
            <a:ext cx="7132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7F4EE"/>
                </a:solidFill>
                <a:latin typeface="Aptos Display"/>
              </a:rPr>
              <a:t>The boundaries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664208"/>
            <a:ext cx="71323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C0D6"/>
                </a:solidFill>
                <a:latin typeface="Aptos"/>
              </a:rPr>
              <a:t>The decision must work inside these author-defined constraints.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3200400" cy="4187952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938528"/>
            <a:ext cx="2615184" cy="109728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261518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E5B560"/>
                </a:solidFill>
                <a:latin typeface="Aptos Display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38728"/>
            <a:ext cx="25786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8C0D6"/>
                </a:solidFill>
                <a:latin typeface="Aptos"/>
              </a:rPr>
              <a:t>COMPARE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709160"/>
            <a:ext cx="1243584" cy="50292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818888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7F4EE"/>
                </a:solidFill>
                <a:latin typeface="Aptos"/>
              </a:rPr>
              <a:t>BEFORE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4709160"/>
            <a:ext cx="1243584" cy="502920"/>
          </a:xfrm>
          <a:prstGeom prst="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4818888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7F4EE"/>
                </a:solidFill>
                <a:latin typeface="Aptos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913632"/>
            <a:ext cx="257860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7F4EE"/>
                </a:solidFill>
                <a:latin typeface="Aptos Display"/>
              </a:rPr>
              <a:t>The boundaries that matter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2971800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16382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108960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Constraint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3108960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No raw content collection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0520" y="3959352"/>
            <a:ext cx="7132320" cy="749808"/>
          </a:xfrm>
          <a:prstGeom prst="round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151376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2" y="4096512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Constraint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4096512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Thirty-day pilot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4946904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138928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508406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Constraint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5084064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Document deletion behavior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8C0D6"/>
                </a:solidFill>
                <a:latin typeface="Aptos"/>
              </a:rPr>
              <a:t>Choose the analytics path for a privacy-sensitive product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2823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8C0D6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5B560"/>
                </a:solidFill>
                <a:latin typeface="Aptos"/>
              </a:rPr>
              <a:t>STORYBOARD /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7F4EE"/>
                </a:solidFill>
                <a:latin typeface="Aptos Display"/>
              </a:rPr>
              <a:t>The options on the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763524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C0D6"/>
                </a:solidFill>
                <a:latin typeface="Aptos"/>
              </a:rPr>
              <a:t>Compare only the options and decision lens supplied in the brief.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1627632"/>
            <a:ext cx="2880360" cy="4187952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33688" y="1938528"/>
            <a:ext cx="2295144" cy="109728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2286000"/>
            <a:ext cx="229514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E5B560"/>
                </a:solidFill>
                <a:latin typeface="Aptos Display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1976" y="3538728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8C0D6"/>
                </a:solidFill>
                <a:latin typeface="Aptos"/>
              </a:rPr>
              <a:t>COMPARE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1976" y="4709160"/>
            <a:ext cx="1083564" cy="50292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1976" y="4818888"/>
            <a:ext cx="1083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7F4EE"/>
                </a:solidFill>
                <a:latin typeface="Aptos"/>
              </a:rPr>
              <a:t>BEFORE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26980" y="4709160"/>
            <a:ext cx="1083564" cy="502920"/>
          </a:xfrm>
          <a:prstGeom prst="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26980" y="4818888"/>
            <a:ext cx="1083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7F4EE"/>
                </a:solidFill>
                <a:latin typeface="Aptos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3913632"/>
            <a:ext cx="225856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7F4EE"/>
                </a:solidFill>
                <a:latin typeface="Aptos Display"/>
              </a:rPr>
              <a:t>The options on the 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754380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6382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108960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Self-hosted aggregate events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108960"/>
            <a:ext cx="4361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Collect a minimal allowlist of aggregate product events on team-owned infrastructure.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59352"/>
            <a:ext cx="7543800" cy="749808"/>
          </a:xfrm>
          <a:prstGeom prst="round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096512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Managed privacy-focused 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4096512"/>
            <a:ext cx="4361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Use a bounded managed service with a reviewed retention and deletion contract.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46904"/>
            <a:ext cx="754380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138928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8406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Decision lens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084064"/>
            <a:ext cx="4361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No raw content collection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8C0D6"/>
                </a:solidFill>
                <a:latin typeface="Aptos"/>
              </a:rPr>
              <a:t>Choose the analytics path for a privacy-sensitive product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2823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8C0D6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5B560"/>
                </a:solidFill>
                <a:latin typeface="Aptos"/>
              </a:rPr>
              <a:t>STORYBOARD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7F4EE"/>
                </a:solidFill>
                <a:latin typeface="Aptos Display"/>
              </a:rPr>
              <a:t>The trade-off to accept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640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C0D6"/>
                </a:solidFill>
                <a:latin typeface="Aptos"/>
              </a:rPr>
              <a:t>Choose the analytics path for a privacy-sensitive product 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627632"/>
            <a:ext cx="3337560" cy="4187952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59368" y="1938528"/>
            <a:ext cx="2752344" cy="109728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2286000"/>
            <a:ext cx="275234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E5B560"/>
                </a:solidFill>
                <a:latin typeface="Aptos Display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7656" y="3538728"/>
            <a:ext cx="27157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8C0D6"/>
                </a:solidFill>
                <a:latin typeface="Aptos"/>
              </a:rPr>
              <a:t>DECISION</a:t>
            </a:r>
          </a:p>
        </p:txBody>
      </p:sp>
      <p:sp>
        <p:nvSpPr>
          <p:cNvPr id="10" name="Chevron 9"/>
          <p:cNvSpPr/>
          <p:nvPr/>
        </p:nvSpPr>
        <p:spPr>
          <a:xfrm>
            <a:off x="8695944" y="4700016"/>
            <a:ext cx="2679192" cy="475488"/>
          </a:xfrm>
          <a:prstGeom prst="chevron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913632"/>
            <a:ext cx="271576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7F4EE"/>
                </a:solidFill>
                <a:latin typeface="Aptos Display"/>
              </a:rPr>
              <a:t>The trade-off to accept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71800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6382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108960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Trade-off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108960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Operational ownership versus vendor dependency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59352"/>
            <a:ext cx="7132320" cy="749808"/>
          </a:xfrm>
          <a:prstGeom prst="round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51376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096512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Trade-off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4096512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Setup speed versus infrastructure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46904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508406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What the decision protects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5084064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Approve a reversible measurement path with an explicit retention 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8C0D6"/>
                </a:solidFill>
                <a:latin typeface="Aptos"/>
              </a:rPr>
              <a:t>Choose the analytics path for a privacy-sensitive product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2823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8C0D6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8404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5B560"/>
                </a:solidFill>
                <a:latin typeface="Aptos"/>
              </a:rPr>
              <a:t>STORYBOARD /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0520" y="804672"/>
            <a:ext cx="7132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7F4EE"/>
                </a:solidFill>
                <a:latin typeface="Aptos Display"/>
              </a:rPr>
              <a:t>The owned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664208"/>
            <a:ext cx="71323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C0D6"/>
                </a:solidFill>
                <a:latin typeface="Aptos"/>
              </a:rPr>
              <a:t>Compare both paths against the event allowlist and approve one reversible 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3200400" cy="4187952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938528"/>
            <a:ext cx="2615184" cy="109728"/>
          </a:xfrm>
          <a:prstGeom prst="rect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261518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E5B560"/>
                </a:solidFill>
                <a:latin typeface="Aptos Display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38728"/>
            <a:ext cx="25786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8C0D6"/>
                </a:solidFill>
                <a:latin typeface="Aptos"/>
              </a:rPr>
              <a:t>SEQUENCE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4709160"/>
            <a:ext cx="256032" cy="256032"/>
          </a:xfrm>
          <a:prstGeom prst="ellipse">
            <a:avLst/>
          </a:prstGeom>
          <a:solidFill>
            <a:srgbClr val="E5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5648" y="4709160"/>
            <a:ext cx="256032" cy="256032"/>
          </a:xfrm>
          <a:prstGeom prst="ellipse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05456" y="4709160"/>
            <a:ext cx="256032" cy="256032"/>
          </a:xfrm>
          <a:prstGeom prst="ellipse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913632"/>
            <a:ext cx="257860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7F4EE"/>
                </a:solidFill>
                <a:latin typeface="Aptos Display"/>
              </a:rPr>
              <a:t>The owned next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971800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316382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3108960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08960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Product operations lead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3959352"/>
            <a:ext cx="7132320" cy="749808"/>
          </a:xfrm>
          <a:prstGeom prst="roundRect">
            <a:avLst/>
          </a:prstGeom>
          <a:solidFill>
            <a:srgbClr val="262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4151376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096512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Next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4096512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Compare both paths against the event allowlist and approve one reversible pilot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946904"/>
            <a:ext cx="7132320" cy="749808"/>
          </a:xfrm>
          <a:prstGeom prst="roundRect">
            <a:avLst/>
          </a:prstGeom>
          <a:solidFill>
            <a:srgbClr val="1B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138928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5B560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2" y="5084064"/>
            <a:ext cx="22402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F4EE"/>
                </a:solidFill>
                <a:latin typeface="Aptos"/>
              </a:rPr>
              <a:t>Review 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5084064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C0D6"/>
                </a:solidFill>
                <a:latin typeface="Aptos"/>
              </a:rPr>
              <a:t>2026-10-15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8C0D6"/>
                </a:solidFill>
                <a:latin typeface="Aptos"/>
              </a:rPr>
              <a:t>Choose the analytics path for a privacy-sensitive product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2823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B8C0D6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Choose the analytics path for a privacy-sensitive product pilot</dc:title>
  <dc:subject>For Product, privacy, and engineering leads — Approve a reversible measurement path with an explicit retention</dc:subject>
  <dc:creator>Storyboard Studio</dc:creator>
  <cp:keywords/>
  <dc:description>Storyboard Studio 0.2.0; story schema 2; outline sha256 79417112bd5d7e95bfe7ee5adf65a106693aef21764903d76859e464faff3714; integrity does not prove factual truth.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